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26"/>
  </p:notesMasterIdLst>
  <p:sldIdLst>
    <p:sldId id="256" r:id="rId2"/>
    <p:sldId id="285" r:id="rId3"/>
    <p:sldId id="264" r:id="rId4"/>
    <p:sldId id="263" r:id="rId5"/>
    <p:sldId id="286" r:id="rId6"/>
    <p:sldId id="266" r:id="rId7"/>
    <p:sldId id="267" r:id="rId8"/>
    <p:sldId id="268" r:id="rId9"/>
    <p:sldId id="265" r:id="rId10"/>
    <p:sldId id="262" r:id="rId11"/>
    <p:sldId id="270" r:id="rId12"/>
    <p:sldId id="280" r:id="rId13"/>
    <p:sldId id="271" r:id="rId14"/>
    <p:sldId id="281" r:id="rId15"/>
    <p:sldId id="272" r:id="rId16"/>
    <p:sldId id="282" r:id="rId17"/>
    <p:sldId id="273" r:id="rId18"/>
    <p:sldId id="283" r:id="rId19"/>
    <p:sldId id="274" r:id="rId20"/>
    <p:sldId id="284" r:id="rId21"/>
    <p:sldId id="275" r:id="rId22"/>
    <p:sldId id="276" r:id="rId23"/>
    <p:sldId id="279" r:id="rId24"/>
    <p:sldId id="259" r:id="rId25"/>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29" roundtripDataSignature="AMtx7mi4HmEECUlll0m8HTY06QsqsmZGG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E54A92D-BA84-49D5-0CF7-4F9498CE1851}" v="179" dt="2026-03-16T18:00:19.231"/>
    <p1510:client id="{6FAF60A2-A7DE-3B21-18B1-27F9D4BA9855}" v="47" dt="2026-03-17T16:45:50.44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86040" autoAdjust="0"/>
  </p:normalViewPr>
  <p:slideViewPr>
    <p:cSldViewPr snapToGrid="0">
      <p:cViewPr varScale="1">
        <p:scale>
          <a:sx n="51" d="100"/>
          <a:sy n="51" d="100"/>
        </p:scale>
        <p:origin x="1164" y="4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34" Type="http://schemas.microsoft.com/office/2015/10/relationships/revisionInfo" Target="revisionInfo.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customschemas.google.com/relationships/presentationmetadata" Target="meta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30" Type="http://schemas.openxmlformats.org/officeDocument/2006/relationships/presProps" Target="presProps.xml"/></Relationships>
</file>

<file path=ppt/diagrams/colors1.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141C2057-FD32-4739-8C9E-2FD9419A6FA9}" type="doc">
      <dgm:prSet loTypeId="urn:microsoft.com/office/officeart/2016/7/layout/RepeatingBendingProcessNew" loCatId="process" qsTypeId="urn:microsoft.com/office/officeart/2005/8/quickstyle/simple1" qsCatId="simple" csTypeId="urn:microsoft.com/office/officeart/2005/8/colors/colorful5" csCatId="colorful"/>
      <dgm:spPr/>
      <dgm:t>
        <a:bodyPr/>
        <a:lstStyle/>
        <a:p>
          <a:endParaRPr lang="en-US"/>
        </a:p>
      </dgm:t>
    </dgm:pt>
    <dgm:pt modelId="{1719E829-BC82-4F70-8AAF-5B0654D3054C}">
      <dgm:prSet/>
      <dgm:spPr/>
      <dgm:t>
        <a:bodyPr/>
        <a:lstStyle/>
        <a:p>
          <a:r>
            <a:rPr lang="en-US" dirty="0"/>
            <a:t>The objective of this project is to analyze a music store data using SQL to extract meaningful business insights.</a:t>
          </a:r>
        </a:p>
      </dgm:t>
    </dgm:pt>
    <dgm:pt modelId="{590326B6-B3CB-4C3F-B77C-6746435AAB48}" type="parTrans" cxnId="{C955A627-C59D-49DA-80EA-795BCF6562A6}">
      <dgm:prSet/>
      <dgm:spPr/>
      <dgm:t>
        <a:bodyPr/>
        <a:lstStyle/>
        <a:p>
          <a:endParaRPr lang="en-US"/>
        </a:p>
      </dgm:t>
    </dgm:pt>
    <dgm:pt modelId="{1E86C55A-7201-4606-AFBA-7067FEB7C5ED}" type="sibTrans" cxnId="{C955A627-C59D-49DA-80EA-795BCF6562A6}">
      <dgm:prSet/>
      <dgm:spPr/>
      <dgm:t>
        <a:bodyPr/>
        <a:lstStyle/>
        <a:p>
          <a:endParaRPr lang="en-US"/>
        </a:p>
      </dgm:t>
    </dgm:pt>
    <dgm:pt modelId="{604A833F-7352-4D55-BA3E-F1C10C2C140B}">
      <dgm:prSet/>
      <dgm:spPr/>
      <dgm:t>
        <a:bodyPr/>
        <a:lstStyle/>
        <a:p>
          <a:r>
            <a:rPr lang="en-US" dirty="0"/>
            <a:t>The key objectives of this project is:</a:t>
          </a:r>
        </a:p>
      </dgm:t>
    </dgm:pt>
    <dgm:pt modelId="{E6D42B00-F8DE-46FD-9E9B-571287E9EB77}" type="parTrans" cxnId="{C66607C0-CD29-40D1-9617-C88E15ACE887}">
      <dgm:prSet/>
      <dgm:spPr/>
      <dgm:t>
        <a:bodyPr/>
        <a:lstStyle/>
        <a:p>
          <a:endParaRPr lang="en-US"/>
        </a:p>
      </dgm:t>
    </dgm:pt>
    <dgm:pt modelId="{7A673ED9-D0A0-464E-963C-367D156B5494}" type="sibTrans" cxnId="{C66607C0-CD29-40D1-9617-C88E15ACE887}">
      <dgm:prSet/>
      <dgm:spPr/>
      <dgm:t>
        <a:bodyPr/>
        <a:lstStyle/>
        <a:p>
          <a:endParaRPr lang="en-US"/>
        </a:p>
      </dgm:t>
    </dgm:pt>
    <dgm:pt modelId="{1BC6B1F4-6078-4B7B-BDDE-24FB3D7BA526}">
      <dgm:prSet/>
      <dgm:spPr/>
      <dgm:t>
        <a:bodyPr/>
        <a:lstStyle/>
        <a:p>
          <a:r>
            <a:rPr lang="en-US" dirty="0"/>
            <a:t>Understand relational database structure.</a:t>
          </a:r>
        </a:p>
      </dgm:t>
    </dgm:pt>
    <dgm:pt modelId="{F1B7535C-2AE6-4CF4-B30F-960D10F94247}" type="parTrans" cxnId="{26A5C492-9C51-48D8-9B1B-E61D42C2558E}">
      <dgm:prSet/>
      <dgm:spPr/>
      <dgm:t>
        <a:bodyPr/>
        <a:lstStyle/>
        <a:p>
          <a:endParaRPr lang="en-US"/>
        </a:p>
      </dgm:t>
    </dgm:pt>
    <dgm:pt modelId="{506DCFB7-E758-4CC8-86E5-FFE44233738A}" type="sibTrans" cxnId="{26A5C492-9C51-48D8-9B1B-E61D42C2558E}">
      <dgm:prSet/>
      <dgm:spPr/>
      <dgm:t>
        <a:bodyPr/>
        <a:lstStyle/>
        <a:p>
          <a:endParaRPr lang="en-US"/>
        </a:p>
      </dgm:t>
    </dgm:pt>
    <dgm:pt modelId="{7A78B454-91E4-4B32-A711-7B475FEB9038}">
      <dgm:prSet/>
      <dgm:spPr/>
      <dgm:t>
        <a:bodyPr/>
        <a:lstStyle/>
        <a:p>
          <a:r>
            <a:rPr lang="en-US" dirty="0"/>
            <a:t>Apply SQL concepts to get the meaningful insights from the data.</a:t>
          </a:r>
        </a:p>
      </dgm:t>
    </dgm:pt>
    <dgm:pt modelId="{9BA50B55-CFF6-4B7A-8FDE-2E2EB28235BD}" type="parTrans" cxnId="{26DDA4AF-1D25-4013-8307-D4A0CCCA4696}">
      <dgm:prSet/>
      <dgm:spPr/>
      <dgm:t>
        <a:bodyPr/>
        <a:lstStyle/>
        <a:p>
          <a:endParaRPr lang="en-US"/>
        </a:p>
      </dgm:t>
    </dgm:pt>
    <dgm:pt modelId="{655A1ABF-EF71-440B-974E-89D515822B08}" type="sibTrans" cxnId="{26DDA4AF-1D25-4013-8307-D4A0CCCA4696}">
      <dgm:prSet/>
      <dgm:spPr/>
      <dgm:t>
        <a:bodyPr/>
        <a:lstStyle/>
        <a:p>
          <a:endParaRPr lang="en-US"/>
        </a:p>
      </dgm:t>
    </dgm:pt>
    <dgm:pt modelId="{E08C0541-24D7-451D-BF23-6E92B7F14F8A}">
      <dgm:prSet/>
      <dgm:spPr/>
      <dgm:t>
        <a:bodyPr/>
        <a:lstStyle/>
        <a:p>
          <a:r>
            <a:rPr lang="en-US" dirty="0"/>
            <a:t>Practice complex SQL queries.</a:t>
          </a:r>
        </a:p>
      </dgm:t>
    </dgm:pt>
    <dgm:pt modelId="{8C14D829-7847-473C-AB95-A5770E8BBAFF}" type="parTrans" cxnId="{7439D9F1-6A40-4F85-9267-307EBA301336}">
      <dgm:prSet/>
      <dgm:spPr/>
      <dgm:t>
        <a:bodyPr/>
        <a:lstStyle/>
        <a:p>
          <a:endParaRPr lang="en-US"/>
        </a:p>
      </dgm:t>
    </dgm:pt>
    <dgm:pt modelId="{ED87DD06-3CEA-4738-9741-88051121F832}" type="sibTrans" cxnId="{7439D9F1-6A40-4F85-9267-307EBA301336}">
      <dgm:prSet/>
      <dgm:spPr/>
      <dgm:t>
        <a:bodyPr/>
        <a:lstStyle/>
        <a:p>
          <a:endParaRPr lang="en-US"/>
        </a:p>
      </dgm:t>
    </dgm:pt>
    <dgm:pt modelId="{5580306C-7D63-4B13-93E8-2BFBBFC1C68F}">
      <dgm:prSet/>
      <dgm:spPr/>
      <dgm:t>
        <a:bodyPr/>
        <a:lstStyle/>
        <a:p>
          <a:r>
            <a:rPr lang="en-US" dirty="0"/>
            <a:t>Analyze the customer </a:t>
          </a:r>
          <a:r>
            <a:rPr lang="en-US" dirty="0" err="1"/>
            <a:t>behaviour</a:t>
          </a:r>
          <a:r>
            <a:rPr lang="en-US" dirty="0"/>
            <a:t> and sales pattern.</a:t>
          </a:r>
        </a:p>
      </dgm:t>
    </dgm:pt>
    <dgm:pt modelId="{464D9230-E84F-42F3-B1C7-2A887E1B7DBA}" type="parTrans" cxnId="{35D10F3E-CE1F-4CF0-92AE-B5AD70766E93}">
      <dgm:prSet/>
      <dgm:spPr/>
      <dgm:t>
        <a:bodyPr/>
        <a:lstStyle/>
        <a:p>
          <a:endParaRPr lang="en-US"/>
        </a:p>
      </dgm:t>
    </dgm:pt>
    <dgm:pt modelId="{A12C9C3A-E86F-47B9-8CC6-12420E261E37}" type="sibTrans" cxnId="{35D10F3E-CE1F-4CF0-92AE-B5AD70766E93}">
      <dgm:prSet/>
      <dgm:spPr/>
      <dgm:t>
        <a:bodyPr/>
        <a:lstStyle/>
        <a:p>
          <a:endParaRPr lang="en-US"/>
        </a:p>
      </dgm:t>
    </dgm:pt>
    <dgm:pt modelId="{85F930C7-EE32-435B-B62C-AD9EE7FCDF25}">
      <dgm:prSet/>
      <dgm:spPr/>
      <dgm:t>
        <a:bodyPr/>
        <a:lstStyle/>
        <a:p>
          <a:r>
            <a:rPr lang="en-US" dirty="0"/>
            <a:t>Identify top customers, popular genres, popular cities and revenue sources.</a:t>
          </a:r>
        </a:p>
      </dgm:t>
    </dgm:pt>
    <dgm:pt modelId="{F03A238A-C7ED-4BD6-B45E-D63E9E4AB3EE}" type="parTrans" cxnId="{9ADC741E-2A61-48A2-8956-66BAD9E3B4C0}">
      <dgm:prSet/>
      <dgm:spPr/>
      <dgm:t>
        <a:bodyPr/>
        <a:lstStyle/>
        <a:p>
          <a:endParaRPr lang="en-US"/>
        </a:p>
      </dgm:t>
    </dgm:pt>
    <dgm:pt modelId="{BD0A431C-3784-4ECE-9C1F-FE47AD7EC0C9}" type="sibTrans" cxnId="{9ADC741E-2A61-48A2-8956-66BAD9E3B4C0}">
      <dgm:prSet/>
      <dgm:spPr/>
      <dgm:t>
        <a:bodyPr/>
        <a:lstStyle/>
        <a:p>
          <a:endParaRPr lang="en-US"/>
        </a:p>
      </dgm:t>
    </dgm:pt>
    <dgm:pt modelId="{6424143F-6AEF-418A-BBA7-099C198DE854}">
      <dgm:prSet/>
      <dgm:spPr/>
      <dgm:t>
        <a:bodyPr/>
        <a:lstStyle/>
        <a:p>
          <a:r>
            <a:rPr lang="en-US" dirty="0"/>
            <a:t>Support data-driven business decisions.</a:t>
          </a:r>
        </a:p>
      </dgm:t>
    </dgm:pt>
    <dgm:pt modelId="{EF93D762-6E58-4218-A3AA-EEE8D342610D}" type="parTrans" cxnId="{85D1C5B6-0FD8-4EBA-82F0-27236D80AF87}">
      <dgm:prSet/>
      <dgm:spPr/>
      <dgm:t>
        <a:bodyPr/>
        <a:lstStyle/>
        <a:p>
          <a:endParaRPr lang="en-US"/>
        </a:p>
      </dgm:t>
    </dgm:pt>
    <dgm:pt modelId="{80B7ACD7-6555-4A3E-A214-26219B39356D}" type="sibTrans" cxnId="{85D1C5B6-0FD8-4EBA-82F0-27236D80AF87}">
      <dgm:prSet/>
      <dgm:spPr/>
      <dgm:t>
        <a:bodyPr/>
        <a:lstStyle/>
        <a:p>
          <a:endParaRPr lang="en-US"/>
        </a:p>
      </dgm:t>
    </dgm:pt>
    <dgm:pt modelId="{D589E214-C31C-4C23-9ACE-BD5A6407DC8D}">
      <dgm:prSet/>
      <dgm:spPr/>
      <dgm:t>
        <a:bodyPr/>
        <a:lstStyle/>
        <a:p>
          <a:r>
            <a:rPr lang="en-US" dirty="0"/>
            <a:t>This project applies SQL concepts to a real-world dataset to simulate business analytics scenarios</a:t>
          </a:r>
        </a:p>
      </dgm:t>
    </dgm:pt>
    <dgm:pt modelId="{F493F1F4-87C7-4E18-8D0E-0E661AE79D57}" type="parTrans" cxnId="{C9842DC4-7746-4F6F-A30B-575A7913B6A1}">
      <dgm:prSet/>
      <dgm:spPr/>
      <dgm:t>
        <a:bodyPr/>
        <a:lstStyle/>
        <a:p>
          <a:endParaRPr lang="en-US"/>
        </a:p>
      </dgm:t>
    </dgm:pt>
    <dgm:pt modelId="{2956E415-ADA9-4505-B6A6-681C5257AFC0}" type="sibTrans" cxnId="{C9842DC4-7746-4F6F-A30B-575A7913B6A1}">
      <dgm:prSet/>
      <dgm:spPr/>
      <dgm:t>
        <a:bodyPr/>
        <a:lstStyle/>
        <a:p>
          <a:endParaRPr lang="en-US"/>
        </a:p>
      </dgm:t>
    </dgm:pt>
    <dgm:pt modelId="{308251B8-7C3C-4208-8A32-0DAA1E153A41}" type="pres">
      <dgm:prSet presAssocID="{141C2057-FD32-4739-8C9E-2FD9419A6FA9}" presName="Name0" presStyleCnt="0">
        <dgm:presLayoutVars>
          <dgm:dir/>
          <dgm:resizeHandles val="exact"/>
        </dgm:presLayoutVars>
      </dgm:prSet>
      <dgm:spPr/>
    </dgm:pt>
    <dgm:pt modelId="{FE4B6F7C-4F5E-4460-B0E4-9CBC96BDEEAE}" type="pres">
      <dgm:prSet presAssocID="{1719E829-BC82-4F70-8AAF-5B0654D3054C}" presName="node" presStyleLbl="node1" presStyleIdx="0" presStyleCnt="8">
        <dgm:presLayoutVars>
          <dgm:bulletEnabled val="1"/>
        </dgm:presLayoutVars>
      </dgm:prSet>
      <dgm:spPr/>
    </dgm:pt>
    <dgm:pt modelId="{6A470E54-2BF6-4531-8532-E7389039094E}" type="pres">
      <dgm:prSet presAssocID="{1E86C55A-7201-4606-AFBA-7067FEB7C5ED}" presName="sibTrans" presStyleLbl="sibTrans1D1" presStyleIdx="0" presStyleCnt="7"/>
      <dgm:spPr/>
    </dgm:pt>
    <dgm:pt modelId="{83F933DB-A295-4BCC-AE55-65A62E53C934}" type="pres">
      <dgm:prSet presAssocID="{1E86C55A-7201-4606-AFBA-7067FEB7C5ED}" presName="connectorText" presStyleLbl="sibTrans1D1" presStyleIdx="0" presStyleCnt="7"/>
      <dgm:spPr/>
    </dgm:pt>
    <dgm:pt modelId="{32774EB3-7DDC-49F9-9534-D650974F8055}" type="pres">
      <dgm:prSet presAssocID="{604A833F-7352-4D55-BA3E-F1C10C2C140B}" presName="node" presStyleLbl="node1" presStyleIdx="1" presStyleCnt="8">
        <dgm:presLayoutVars>
          <dgm:bulletEnabled val="1"/>
        </dgm:presLayoutVars>
      </dgm:prSet>
      <dgm:spPr/>
    </dgm:pt>
    <dgm:pt modelId="{890EADAC-B35C-4FF3-9989-DA41CD3E57C5}" type="pres">
      <dgm:prSet presAssocID="{7A673ED9-D0A0-464E-963C-367D156B5494}" presName="sibTrans" presStyleLbl="sibTrans1D1" presStyleIdx="1" presStyleCnt="7"/>
      <dgm:spPr/>
    </dgm:pt>
    <dgm:pt modelId="{DE2A5D8F-8BDE-4252-B118-E0066B2AC266}" type="pres">
      <dgm:prSet presAssocID="{7A673ED9-D0A0-464E-963C-367D156B5494}" presName="connectorText" presStyleLbl="sibTrans1D1" presStyleIdx="1" presStyleCnt="7"/>
      <dgm:spPr/>
    </dgm:pt>
    <dgm:pt modelId="{3200BBB7-466C-4CF5-8FAD-91939A7344BA}" type="pres">
      <dgm:prSet presAssocID="{1BC6B1F4-6078-4B7B-BDDE-24FB3D7BA526}" presName="node" presStyleLbl="node1" presStyleIdx="2" presStyleCnt="8">
        <dgm:presLayoutVars>
          <dgm:bulletEnabled val="1"/>
        </dgm:presLayoutVars>
      </dgm:prSet>
      <dgm:spPr/>
    </dgm:pt>
    <dgm:pt modelId="{9F4AA830-306B-47AC-922F-FDB2B3E1EB01}" type="pres">
      <dgm:prSet presAssocID="{506DCFB7-E758-4CC8-86E5-FFE44233738A}" presName="sibTrans" presStyleLbl="sibTrans1D1" presStyleIdx="2" presStyleCnt="7"/>
      <dgm:spPr/>
    </dgm:pt>
    <dgm:pt modelId="{19EA05A8-2514-4999-A60A-87026964A063}" type="pres">
      <dgm:prSet presAssocID="{506DCFB7-E758-4CC8-86E5-FFE44233738A}" presName="connectorText" presStyleLbl="sibTrans1D1" presStyleIdx="2" presStyleCnt="7"/>
      <dgm:spPr/>
    </dgm:pt>
    <dgm:pt modelId="{6F1A0288-3FC4-4F61-9890-733ACBB2DD72}" type="pres">
      <dgm:prSet presAssocID="{7A78B454-91E4-4B32-A711-7B475FEB9038}" presName="node" presStyleLbl="node1" presStyleIdx="3" presStyleCnt="8">
        <dgm:presLayoutVars>
          <dgm:bulletEnabled val="1"/>
        </dgm:presLayoutVars>
      </dgm:prSet>
      <dgm:spPr/>
    </dgm:pt>
    <dgm:pt modelId="{59FFB577-5F33-4925-B286-BB2721A0FBB1}" type="pres">
      <dgm:prSet presAssocID="{655A1ABF-EF71-440B-974E-89D515822B08}" presName="sibTrans" presStyleLbl="sibTrans1D1" presStyleIdx="3" presStyleCnt="7"/>
      <dgm:spPr/>
    </dgm:pt>
    <dgm:pt modelId="{91894A09-E48D-48E6-B369-CAB92C95A15B}" type="pres">
      <dgm:prSet presAssocID="{655A1ABF-EF71-440B-974E-89D515822B08}" presName="connectorText" presStyleLbl="sibTrans1D1" presStyleIdx="3" presStyleCnt="7"/>
      <dgm:spPr/>
    </dgm:pt>
    <dgm:pt modelId="{8369E101-C79B-4A48-A168-64CFE30E5163}" type="pres">
      <dgm:prSet presAssocID="{E08C0541-24D7-451D-BF23-6E92B7F14F8A}" presName="node" presStyleLbl="node1" presStyleIdx="4" presStyleCnt="8">
        <dgm:presLayoutVars>
          <dgm:bulletEnabled val="1"/>
        </dgm:presLayoutVars>
      </dgm:prSet>
      <dgm:spPr/>
    </dgm:pt>
    <dgm:pt modelId="{38A4C6C8-4597-4A42-B7D8-13905C5DC07F}" type="pres">
      <dgm:prSet presAssocID="{ED87DD06-3CEA-4738-9741-88051121F832}" presName="sibTrans" presStyleLbl="sibTrans1D1" presStyleIdx="4" presStyleCnt="7"/>
      <dgm:spPr/>
    </dgm:pt>
    <dgm:pt modelId="{740D5905-73E9-43D3-A89D-DC79D15DF3DA}" type="pres">
      <dgm:prSet presAssocID="{ED87DD06-3CEA-4738-9741-88051121F832}" presName="connectorText" presStyleLbl="sibTrans1D1" presStyleIdx="4" presStyleCnt="7"/>
      <dgm:spPr/>
    </dgm:pt>
    <dgm:pt modelId="{69D74BC8-0B03-4C67-A8AA-2D394F4211AE}" type="pres">
      <dgm:prSet presAssocID="{5580306C-7D63-4B13-93E8-2BFBBFC1C68F}" presName="node" presStyleLbl="node1" presStyleIdx="5" presStyleCnt="8">
        <dgm:presLayoutVars>
          <dgm:bulletEnabled val="1"/>
        </dgm:presLayoutVars>
      </dgm:prSet>
      <dgm:spPr/>
    </dgm:pt>
    <dgm:pt modelId="{F89FD438-180E-4052-8E40-2E6576520546}" type="pres">
      <dgm:prSet presAssocID="{A12C9C3A-E86F-47B9-8CC6-12420E261E37}" presName="sibTrans" presStyleLbl="sibTrans1D1" presStyleIdx="5" presStyleCnt="7"/>
      <dgm:spPr/>
    </dgm:pt>
    <dgm:pt modelId="{E2FA820C-010A-4EC1-BBED-23CD1A12AA05}" type="pres">
      <dgm:prSet presAssocID="{A12C9C3A-E86F-47B9-8CC6-12420E261E37}" presName="connectorText" presStyleLbl="sibTrans1D1" presStyleIdx="5" presStyleCnt="7"/>
      <dgm:spPr/>
    </dgm:pt>
    <dgm:pt modelId="{CA344555-BBBC-445A-8BDE-A85BD32A4728}" type="pres">
      <dgm:prSet presAssocID="{85F930C7-EE32-435B-B62C-AD9EE7FCDF25}" presName="node" presStyleLbl="node1" presStyleIdx="6" presStyleCnt="8">
        <dgm:presLayoutVars>
          <dgm:bulletEnabled val="1"/>
        </dgm:presLayoutVars>
      </dgm:prSet>
      <dgm:spPr/>
    </dgm:pt>
    <dgm:pt modelId="{2BBE6445-BA58-4F9D-BB45-B047DBCB5B53}" type="pres">
      <dgm:prSet presAssocID="{BD0A431C-3784-4ECE-9C1F-FE47AD7EC0C9}" presName="sibTrans" presStyleLbl="sibTrans1D1" presStyleIdx="6" presStyleCnt="7"/>
      <dgm:spPr/>
    </dgm:pt>
    <dgm:pt modelId="{15C36316-0A76-4009-9541-12E2FBD1F19D}" type="pres">
      <dgm:prSet presAssocID="{BD0A431C-3784-4ECE-9C1F-FE47AD7EC0C9}" presName="connectorText" presStyleLbl="sibTrans1D1" presStyleIdx="6" presStyleCnt="7"/>
      <dgm:spPr/>
    </dgm:pt>
    <dgm:pt modelId="{B27E7DF8-F2DD-4C9C-9BC6-301A80BBDF69}" type="pres">
      <dgm:prSet presAssocID="{6424143F-6AEF-418A-BBA7-099C198DE854}" presName="node" presStyleLbl="node1" presStyleIdx="7" presStyleCnt="8">
        <dgm:presLayoutVars>
          <dgm:bulletEnabled val="1"/>
        </dgm:presLayoutVars>
      </dgm:prSet>
      <dgm:spPr/>
    </dgm:pt>
  </dgm:ptLst>
  <dgm:cxnLst>
    <dgm:cxn modelId="{BC080301-14C0-4846-AC43-177D6AC947E7}" type="presOf" srcId="{506DCFB7-E758-4CC8-86E5-FFE44233738A}" destId="{9F4AA830-306B-47AC-922F-FDB2B3E1EB01}" srcOrd="0" destOrd="0" presId="urn:microsoft.com/office/officeart/2016/7/layout/RepeatingBendingProcessNew"/>
    <dgm:cxn modelId="{D5DF6B10-351F-493E-B6AB-FC04FBE25543}" type="presOf" srcId="{604A833F-7352-4D55-BA3E-F1C10C2C140B}" destId="{32774EB3-7DDC-49F9-9534-D650974F8055}" srcOrd="0" destOrd="0" presId="urn:microsoft.com/office/officeart/2016/7/layout/RepeatingBendingProcessNew"/>
    <dgm:cxn modelId="{9ADC741E-2A61-48A2-8956-66BAD9E3B4C0}" srcId="{141C2057-FD32-4739-8C9E-2FD9419A6FA9}" destId="{85F930C7-EE32-435B-B62C-AD9EE7FCDF25}" srcOrd="6" destOrd="0" parTransId="{F03A238A-C7ED-4BD6-B45E-D63E9E4AB3EE}" sibTransId="{BD0A431C-3784-4ECE-9C1F-FE47AD7EC0C9}"/>
    <dgm:cxn modelId="{C955A627-C59D-49DA-80EA-795BCF6562A6}" srcId="{141C2057-FD32-4739-8C9E-2FD9419A6FA9}" destId="{1719E829-BC82-4F70-8AAF-5B0654D3054C}" srcOrd="0" destOrd="0" parTransId="{590326B6-B3CB-4C3F-B77C-6746435AAB48}" sibTransId="{1E86C55A-7201-4606-AFBA-7067FEB7C5ED}"/>
    <dgm:cxn modelId="{35D10F3E-CE1F-4CF0-92AE-B5AD70766E93}" srcId="{141C2057-FD32-4739-8C9E-2FD9419A6FA9}" destId="{5580306C-7D63-4B13-93E8-2BFBBFC1C68F}" srcOrd="5" destOrd="0" parTransId="{464D9230-E84F-42F3-B1C7-2A887E1B7DBA}" sibTransId="{A12C9C3A-E86F-47B9-8CC6-12420E261E37}"/>
    <dgm:cxn modelId="{85A8E35B-EB8F-451F-A231-467D2862CAE4}" type="presOf" srcId="{BD0A431C-3784-4ECE-9C1F-FE47AD7EC0C9}" destId="{15C36316-0A76-4009-9541-12E2FBD1F19D}" srcOrd="1" destOrd="0" presId="urn:microsoft.com/office/officeart/2016/7/layout/RepeatingBendingProcessNew"/>
    <dgm:cxn modelId="{D5824A42-BCA5-410A-B939-EB7AAC0F073B}" type="presOf" srcId="{141C2057-FD32-4739-8C9E-2FD9419A6FA9}" destId="{308251B8-7C3C-4208-8A32-0DAA1E153A41}" srcOrd="0" destOrd="0" presId="urn:microsoft.com/office/officeart/2016/7/layout/RepeatingBendingProcessNew"/>
    <dgm:cxn modelId="{B98EAE62-E593-4002-8393-E20838B80B0E}" type="presOf" srcId="{1BC6B1F4-6078-4B7B-BDDE-24FB3D7BA526}" destId="{3200BBB7-466C-4CF5-8FAD-91939A7344BA}" srcOrd="0" destOrd="0" presId="urn:microsoft.com/office/officeart/2016/7/layout/RepeatingBendingProcessNew"/>
    <dgm:cxn modelId="{50EB5846-9D72-42AA-9FBA-4DB149AD9600}" type="presOf" srcId="{5580306C-7D63-4B13-93E8-2BFBBFC1C68F}" destId="{69D74BC8-0B03-4C67-A8AA-2D394F4211AE}" srcOrd="0" destOrd="0" presId="urn:microsoft.com/office/officeart/2016/7/layout/RepeatingBendingProcessNew"/>
    <dgm:cxn modelId="{F8ED7D4A-54E0-4661-A1A6-5D7D9AA481AC}" type="presOf" srcId="{7A673ED9-D0A0-464E-963C-367D156B5494}" destId="{DE2A5D8F-8BDE-4252-B118-E0066B2AC266}" srcOrd="1" destOrd="0" presId="urn:microsoft.com/office/officeart/2016/7/layout/RepeatingBendingProcessNew"/>
    <dgm:cxn modelId="{F6811A6C-DE4C-46EB-B1E1-A56F2DBD94B4}" type="presOf" srcId="{7A673ED9-D0A0-464E-963C-367D156B5494}" destId="{890EADAC-B35C-4FF3-9989-DA41CD3E57C5}" srcOrd="0" destOrd="0" presId="urn:microsoft.com/office/officeart/2016/7/layout/RepeatingBendingProcessNew"/>
    <dgm:cxn modelId="{82BA606C-081A-46C8-A6D1-1B423ADE093A}" type="presOf" srcId="{6424143F-6AEF-418A-BBA7-099C198DE854}" destId="{B27E7DF8-F2DD-4C9C-9BC6-301A80BBDF69}" srcOrd="0" destOrd="0" presId="urn:microsoft.com/office/officeart/2016/7/layout/RepeatingBendingProcessNew"/>
    <dgm:cxn modelId="{81565E50-0EBC-425F-A863-EF1389E6A77E}" type="presOf" srcId="{ED87DD06-3CEA-4738-9741-88051121F832}" destId="{38A4C6C8-4597-4A42-B7D8-13905C5DC07F}" srcOrd="0" destOrd="0" presId="urn:microsoft.com/office/officeart/2016/7/layout/RepeatingBendingProcessNew"/>
    <dgm:cxn modelId="{E7C5F572-7750-4651-97F6-2EF2472ADE6F}" type="presOf" srcId="{E08C0541-24D7-451D-BF23-6E92B7F14F8A}" destId="{8369E101-C79B-4A48-A168-64CFE30E5163}" srcOrd="0" destOrd="0" presId="urn:microsoft.com/office/officeart/2016/7/layout/RepeatingBendingProcessNew"/>
    <dgm:cxn modelId="{0494DB74-855A-46E9-9E2C-3E05E4842085}" type="presOf" srcId="{655A1ABF-EF71-440B-974E-89D515822B08}" destId="{59FFB577-5F33-4925-B286-BB2721A0FBB1}" srcOrd="0" destOrd="0" presId="urn:microsoft.com/office/officeart/2016/7/layout/RepeatingBendingProcessNew"/>
    <dgm:cxn modelId="{0427D759-3532-4D55-8897-4676EB17197B}" type="presOf" srcId="{A12C9C3A-E86F-47B9-8CC6-12420E261E37}" destId="{E2FA820C-010A-4EC1-BBED-23CD1A12AA05}" srcOrd="1" destOrd="0" presId="urn:microsoft.com/office/officeart/2016/7/layout/RepeatingBendingProcessNew"/>
    <dgm:cxn modelId="{D29C207B-2751-4C36-8D89-B25CED7CBF4B}" type="presOf" srcId="{BD0A431C-3784-4ECE-9C1F-FE47AD7EC0C9}" destId="{2BBE6445-BA58-4F9D-BB45-B047DBCB5B53}" srcOrd="0" destOrd="0" presId="urn:microsoft.com/office/officeart/2016/7/layout/RepeatingBendingProcessNew"/>
    <dgm:cxn modelId="{26A5C492-9C51-48D8-9B1B-E61D42C2558E}" srcId="{141C2057-FD32-4739-8C9E-2FD9419A6FA9}" destId="{1BC6B1F4-6078-4B7B-BDDE-24FB3D7BA526}" srcOrd="2" destOrd="0" parTransId="{F1B7535C-2AE6-4CF4-B30F-960D10F94247}" sibTransId="{506DCFB7-E758-4CC8-86E5-FFE44233738A}"/>
    <dgm:cxn modelId="{32EC4095-59E8-4496-8CE6-E2C2C07355D9}" type="presOf" srcId="{506DCFB7-E758-4CC8-86E5-FFE44233738A}" destId="{19EA05A8-2514-4999-A60A-87026964A063}" srcOrd="1" destOrd="0" presId="urn:microsoft.com/office/officeart/2016/7/layout/RepeatingBendingProcessNew"/>
    <dgm:cxn modelId="{7FEF73A6-0EBB-47CE-B858-EC950606577B}" type="presOf" srcId="{85F930C7-EE32-435B-B62C-AD9EE7FCDF25}" destId="{CA344555-BBBC-445A-8BDE-A85BD32A4728}" srcOrd="0" destOrd="0" presId="urn:microsoft.com/office/officeart/2016/7/layout/RepeatingBendingProcessNew"/>
    <dgm:cxn modelId="{26DDA4AF-1D25-4013-8307-D4A0CCCA4696}" srcId="{141C2057-FD32-4739-8C9E-2FD9419A6FA9}" destId="{7A78B454-91E4-4B32-A711-7B475FEB9038}" srcOrd="3" destOrd="0" parTransId="{9BA50B55-CFF6-4B7A-8FDE-2E2EB28235BD}" sibTransId="{655A1ABF-EF71-440B-974E-89D515822B08}"/>
    <dgm:cxn modelId="{85D1C5B6-0FD8-4EBA-82F0-27236D80AF87}" srcId="{141C2057-FD32-4739-8C9E-2FD9419A6FA9}" destId="{6424143F-6AEF-418A-BBA7-099C198DE854}" srcOrd="7" destOrd="0" parTransId="{EF93D762-6E58-4218-A3AA-EEE8D342610D}" sibTransId="{80B7ACD7-6555-4A3E-A214-26219B39356D}"/>
    <dgm:cxn modelId="{BCA48CBA-3F98-4872-9FC3-FBBBE66CED90}" type="presOf" srcId="{655A1ABF-EF71-440B-974E-89D515822B08}" destId="{91894A09-E48D-48E6-B369-CAB92C95A15B}" srcOrd="1" destOrd="0" presId="urn:microsoft.com/office/officeart/2016/7/layout/RepeatingBendingProcessNew"/>
    <dgm:cxn modelId="{C66607C0-CD29-40D1-9617-C88E15ACE887}" srcId="{141C2057-FD32-4739-8C9E-2FD9419A6FA9}" destId="{604A833F-7352-4D55-BA3E-F1C10C2C140B}" srcOrd="1" destOrd="0" parTransId="{E6D42B00-F8DE-46FD-9E9B-571287E9EB77}" sibTransId="{7A673ED9-D0A0-464E-963C-367D156B5494}"/>
    <dgm:cxn modelId="{C9842DC4-7746-4F6F-A30B-575A7913B6A1}" srcId="{6424143F-6AEF-418A-BBA7-099C198DE854}" destId="{D589E214-C31C-4C23-9ACE-BD5A6407DC8D}" srcOrd="0" destOrd="0" parTransId="{F493F1F4-87C7-4E18-8D0E-0E661AE79D57}" sibTransId="{2956E415-ADA9-4505-B6A6-681C5257AFC0}"/>
    <dgm:cxn modelId="{A9381AC8-58D8-4DE3-8981-B55C26B87646}" type="presOf" srcId="{1E86C55A-7201-4606-AFBA-7067FEB7C5ED}" destId="{83F933DB-A295-4BCC-AE55-65A62E53C934}" srcOrd="1" destOrd="0" presId="urn:microsoft.com/office/officeart/2016/7/layout/RepeatingBendingProcessNew"/>
    <dgm:cxn modelId="{E797FAD8-8779-4420-83EA-156CC28A0FBB}" type="presOf" srcId="{1719E829-BC82-4F70-8AAF-5B0654D3054C}" destId="{FE4B6F7C-4F5E-4460-B0E4-9CBC96BDEEAE}" srcOrd="0" destOrd="0" presId="urn:microsoft.com/office/officeart/2016/7/layout/RepeatingBendingProcessNew"/>
    <dgm:cxn modelId="{5866D5E1-E579-41AF-AF66-03E3F9F55E81}" type="presOf" srcId="{A12C9C3A-E86F-47B9-8CC6-12420E261E37}" destId="{F89FD438-180E-4052-8E40-2E6576520546}" srcOrd="0" destOrd="0" presId="urn:microsoft.com/office/officeart/2016/7/layout/RepeatingBendingProcessNew"/>
    <dgm:cxn modelId="{FEF309E5-0A7B-43FD-8418-36ADF461461D}" type="presOf" srcId="{D589E214-C31C-4C23-9ACE-BD5A6407DC8D}" destId="{B27E7DF8-F2DD-4C9C-9BC6-301A80BBDF69}" srcOrd="0" destOrd="1" presId="urn:microsoft.com/office/officeart/2016/7/layout/RepeatingBendingProcessNew"/>
    <dgm:cxn modelId="{7439D9F1-6A40-4F85-9267-307EBA301336}" srcId="{141C2057-FD32-4739-8C9E-2FD9419A6FA9}" destId="{E08C0541-24D7-451D-BF23-6E92B7F14F8A}" srcOrd="4" destOrd="0" parTransId="{8C14D829-7847-473C-AB95-A5770E8BBAFF}" sibTransId="{ED87DD06-3CEA-4738-9741-88051121F832}"/>
    <dgm:cxn modelId="{846515F2-BE7E-4D04-81A2-CCB0ABEFEC0A}" type="presOf" srcId="{7A78B454-91E4-4B32-A711-7B475FEB9038}" destId="{6F1A0288-3FC4-4F61-9890-733ACBB2DD72}" srcOrd="0" destOrd="0" presId="urn:microsoft.com/office/officeart/2016/7/layout/RepeatingBendingProcessNew"/>
    <dgm:cxn modelId="{9D19D7F5-F7CF-436E-8394-4087814368B5}" type="presOf" srcId="{ED87DD06-3CEA-4738-9741-88051121F832}" destId="{740D5905-73E9-43D3-A89D-DC79D15DF3DA}" srcOrd="1" destOrd="0" presId="urn:microsoft.com/office/officeart/2016/7/layout/RepeatingBendingProcessNew"/>
    <dgm:cxn modelId="{71736AF7-B62F-4992-89EA-2BE796D9B911}" type="presOf" srcId="{1E86C55A-7201-4606-AFBA-7067FEB7C5ED}" destId="{6A470E54-2BF6-4531-8532-E7389039094E}" srcOrd="0" destOrd="0" presId="urn:microsoft.com/office/officeart/2016/7/layout/RepeatingBendingProcessNew"/>
    <dgm:cxn modelId="{EC59D787-2774-4979-B0D2-B1FF7C99FF87}" type="presParOf" srcId="{308251B8-7C3C-4208-8A32-0DAA1E153A41}" destId="{FE4B6F7C-4F5E-4460-B0E4-9CBC96BDEEAE}" srcOrd="0" destOrd="0" presId="urn:microsoft.com/office/officeart/2016/7/layout/RepeatingBendingProcessNew"/>
    <dgm:cxn modelId="{E2C487DE-6032-4403-80A3-33FD5471A416}" type="presParOf" srcId="{308251B8-7C3C-4208-8A32-0DAA1E153A41}" destId="{6A470E54-2BF6-4531-8532-E7389039094E}" srcOrd="1" destOrd="0" presId="urn:microsoft.com/office/officeart/2016/7/layout/RepeatingBendingProcessNew"/>
    <dgm:cxn modelId="{7B39EF39-91F0-4B8C-A5CD-9297A4793A9A}" type="presParOf" srcId="{6A470E54-2BF6-4531-8532-E7389039094E}" destId="{83F933DB-A295-4BCC-AE55-65A62E53C934}" srcOrd="0" destOrd="0" presId="urn:microsoft.com/office/officeart/2016/7/layout/RepeatingBendingProcessNew"/>
    <dgm:cxn modelId="{8E01A0E0-8F46-41CE-93C9-CCD32DAE0F41}" type="presParOf" srcId="{308251B8-7C3C-4208-8A32-0DAA1E153A41}" destId="{32774EB3-7DDC-49F9-9534-D650974F8055}" srcOrd="2" destOrd="0" presId="urn:microsoft.com/office/officeart/2016/7/layout/RepeatingBendingProcessNew"/>
    <dgm:cxn modelId="{50B4BDF6-2F75-4632-871A-355BD29E210B}" type="presParOf" srcId="{308251B8-7C3C-4208-8A32-0DAA1E153A41}" destId="{890EADAC-B35C-4FF3-9989-DA41CD3E57C5}" srcOrd="3" destOrd="0" presId="urn:microsoft.com/office/officeart/2016/7/layout/RepeatingBendingProcessNew"/>
    <dgm:cxn modelId="{0297F907-A7FF-4768-85FC-3B23D7B93A20}" type="presParOf" srcId="{890EADAC-B35C-4FF3-9989-DA41CD3E57C5}" destId="{DE2A5D8F-8BDE-4252-B118-E0066B2AC266}" srcOrd="0" destOrd="0" presId="urn:microsoft.com/office/officeart/2016/7/layout/RepeatingBendingProcessNew"/>
    <dgm:cxn modelId="{72383857-6C91-46E2-9C72-33CD1DC07DB5}" type="presParOf" srcId="{308251B8-7C3C-4208-8A32-0DAA1E153A41}" destId="{3200BBB7-466C-4CF5-8FAD-91939A7344BA}" srcOrd="4" destOrd="0" presId="urn:microsoft.com/office/officeart/2016/7/layout/RepeatingBendingProcessNew"/>
    <dgm:cxn modelId="{0672160A-FAF9-4E01-AF98-B08EAE648035}" type="presParOf" srcId="{308251B8-7C3C-4208-8A32-0DAA1E153A41}" destId="{9F4AA830-306B-47AC-922F-FDB2B3E1EB01}" srcOrd="5" destOrd="0" presId="urn:microsoft.com/office/officeart/2016/7/layout/RepeatingBendingProcessNew"/>
    <dgm:cxn modelId="{14E15CFD-F6CC-40DC-BDEC-BBFEB74495DE}" type="presParOf" srcId="{9F4AA830-306B-47AC-922F-FDB2B3E1EB01}" destId="{19EA05A8-2514-4999-A60A-87026964A063}" srcOrd="0" destOrd="0" presId="urn:microsoft.com/office/officeart/2016/7/layout/RepeatingBendingProcessNew"/>
    <dgm:cxn modelId="{9238B803-2E08-4702-B740-CE101873DF82}" type="presParOf" srcId="{308251B8-7C3C-4208-8A32-0DAA1E153A41}" destId="{6F1A0288-3FC4-4F61-9890-733ACBB2DD72}" srcOrd="6" destOrd="0" presId="urn:microsoft.com/office/officeart/2016/7/layout/RepeatingBendingProcessNew"/>
    <dgm:cxn modelId="{D9D04636-C304-4153-9003-B3474484F291}" type="presParOf" srcId="{308251B8-7C3C-4208-8A32-0DAA1E153A41}" destId="{59FFB577-5F33-4925-B286-BB2721A0FBB1}" srcOrd="7" destOrd="0" presId="urn:microsoft.com/office/officeart/2016/7/layout/RepeatingBendingProcessNew"/>
    <dgm:cxn modelId="{66CC1D7B-42D8-494E-8435-077908E0B1EA}" type="presParOf" srcId="{59FFB577-5F33-4925-B286-BB2721A0FBB1}" destId="{91894A09-E48D-48E6-B369-CAB92C95A15B}" srcOrd="0" destOrd="0" presId="urn:microsoft.com/office/officeart/2016/7/layout/RepeatingBendingProcessNew"/>
    <dgm:cxn modelId="{D9A36F9F-0A58-4E30-9912-FCDBAF225B3C}" type="presParOf" srcId="{308251B8-7C3C-4208-8A32-0DAA1E153A41}" destId="{8369E101-C79B-4A48-A168-64CFE30E5163}" srcOrd="8" destOrd="0" presId="urn:microsoft.com/office/officeart/2016/7/layout/RepeatingBendingProcessNew"/>
    <dgm:cxn modelId="{1D2E50CD-DBB8-4904-BA61-CD86C978234D}" type="presParOf" srcId="{308251B8-7C3C-4208-8A32-0DAA1E153A41}" destId="{38A4C6C8-4597-4A42-B7D8-13905C5DC07F}" srcOrd="9" destOrd="0" presId="urn:microsoft.com/office/officeart/2016/7/layout/RepeatingBendingProcessNew"/>
    <dgm:cxn modelId="{4F9ECCFC-3E72-4296-9303-5FF0CDCDC611}" type="presParOf" srcId="{38A4C6C8-4597-4A42-B7D8-13905C5DC07F}" destId="{740D5905-73E9-43D3-A89D-DC79D15DF3DA}" srcOrd="0" destOrd="0" presId="urn:microsoft.com/office/officeart/2016/7/layout/RepeatingBendingProcessNew"/>
    <dgm:cxn modelId="{DE6CFC59-7C7C-43F7-B6A6-E62524081E63}" type="presParOf" srcId="{308251B8-7C3C-4208-8A32-0DAA1E153A41}" destId="{69D74BC8-0B03-4C67-A8AA-2D394F4211AE}" srcOrd="10" destOrd="0" presId="urn:microsoft.com/office/officeart/2016/7/layout/RepeatingBendingProcessNew"/>
    <dgm:cxn modelId="{E9E6E4A7-EC7D-40CE-B3B1-CFB47D076909}" type="presParOf" srcId="{308251B8-7C3C-4208-8A32-0DAA1E153A41}" destId="{F89FD438-180E-4052-8E40-2E6576520546}" srcOrd="11" destOrd="0" presId="urn:microsoft.com/office/officeart/2016/7/layout/RepeatingBendingProcessNew"/>
    <dgm:cxn modelId="{5FA2C4BD-5119-444F-AB18-E49E9B4D0ED9}" type="presParOf" srcId="{F89FD438-180E-4052-8E40-2E6576520546}" destId="{E2FA820C-010A-4EC1-BBED-23CD1A12AA05}" srcOrd="0" destOrd="0" presId="urn:microsoft.com/office/officeart/2016/7/layout/RepeatingBendingProcessNew"/>
    <dgm:cxn modelId="{A2C4FE49-7038-4F25-BA95-01F7F9868A46}" type="presParOf" srcId="{308251B8-7C3C-4208-8A32-0DAA1E153A41}" destId="{CA344555-BBBC-445A-8BDE-A85BD32A4728}" srcOrd="12" destOrd="0" presId="urn:microsoft.com/office/officeart/2016/7/layout/RepeatingBendingProcessNew"/>
    <dgm:cxn modelId="{60C7BA02-79FB-45BE-923B-B137419E4E11}" type="presParOf" srcId="{308251B8-7C3C-4208-8A32-0DAA1E153A41}" destId="{2BBE6445-BA58-4F9D-BB45-B047DBCB5B53}" srcOrd="13" destOrd="0" presId="urn:microsoft.com/office/officeart/2016/7/layout/RepeatingBendingProcessNew"/>
    <dgm:cxn modelId="{4DD66A40-B6E0-45CA-AE67-B66A4CDBF18F}" type="presParOf" srcId="{2BBE6445-BA58-4F9D-BB45-B047DBCB5B53}" destId="{15C36316-0A76-4009-9541-12E2FBD1F19D}" srcOrd="0" destOrd="0" presId="urn:microsoft.com/office/officeart/2016/7/layout/RepeatingBendingProcessNew"/>
    <dgm:cxn modelId="{906458B6-42FF-4092-981B-16E0F2DA7E86}" type="presParOf" srcId="{308251B8-7C3C-4208-8A32-0DAA1E153A41}" destId="{B27E7DF8-F2DD-4C9C-9BC6-301A80BBDF69}" srcOrd="14" destOrd="0" presId="urn:microsoft.com/office/officeart/2016/7/layout/RepeatingBendingProcessNew"/>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A470E54-2BF6-4531-8532-E7389039094E}">
      <dsp:nvSpPr>
        <dsp:cNvPr id="0" name=""/>
        <dsp:cNvSpPr/>
      </dsp:nvSpPr>
      <dsp:spPr>
        <a:xfrm>
          <a:off x="2211388" y="1212332"/>
          <a:ext cx="477958" cy="91440"/>
        </a:xfrm>
        <a:custGeom>
          <a:avLst/>
          <a:gdLst/>
          <a:ahLst/>
          <a:cxnLst/>
          <a:rect l="0" t="0" r="0" b="0"/>
          <a:pathLst>
            <a:path>
              <a:moveTo>
                <a:pt x="0" y="45720"/>
              </a:moveTo>
              <a:lnTo>
                <a:pt x="477958" y="45720"/>
              </a:lnTo>
            </a:path>
          </a:pathLst>
        </a:custGeom>
        <a:noFill/>
        <a:ln w="9525" cap="flat" cmpd="sng" algn="ctr">
          <a:solidFill>
            <a:schemeClr val="accent5">
              <a:hueOff val="0"/>
              <a:satOff val="0"/>
              <a:lumOff val="0"/>
              <a:alphaOff val="0"/>
            </a:schemeClr>
          </a:solidFill>
          <a:prstDash val="solid"/>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2437653" y="1255509"/>
        <a:ext cx="25427" cy="5085"/>
      </dsp:txXfrm>
    </dsp:sp>
    <dsp:sp modelId="{FE4B6F7C-4F5E-4460-B0E4-9CBC96BDEEAE}">
      <dsp:nvSpPr>
        <dsp:cNvPr id="0" name=""/>
        <dsp:cNvSpPr/>
      </dsp:nvSpPr>
      <dsp:spPr>
        <a:xfrm>
          <a:off x="2064" y="594715"/>
          <a:ext cx="2211124" cy="1326674"/>
        </a:xfrm>
        <a:prstGeom prst="rect">
          <a:avLst/>
        </a:prstGeom>
        <a:solidFill>
          <a:schemeClr val="accent5">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8347" tIns="113729" rIns="108347" bIns="113729" numCol="1" spcCol="1270" anchor="ctr" anchorCtr="0">
          <a:noAutofit/>
        </a:bodyPr>
        <a:lstStyle/>
        <a:p>
          <a:pPr marL="0" lvl="0" indent="0" algn="ctr" defTabSz="577850">
            <a:lnSpc>
              <a:spcPct val="90000"/>
            </a:lnSpc>
            <a:spcBef>
              <a:spcPct val="0"/>
            </a:spcBef>
            <a:spcAft>
              <a:spcPct val="35000"/>
            </a:spcAft>
            <a:buNone/>
          </a:pPr>
          <a:r>
            <a:rPr lang="en-US" sz="1300" kern="1200" dirty="0"/>
            <a:t>The objective of this project is to analyze a music store data using SQL to extract meaningful business insights.</a:t>
          </a:r>
        </a:p>
      </dsp:txBody>
      <dsp:txXfrm>
        <a:off x="2064" y="594715"/>
        <a:ext cx="2211124" cy="1326674"/>
      </dsp:txXfrm>
    </dsp:sp>
    <dsp:sp modelId="{890EADAC-B35C-4FF3-9989-DA41CD3E57C5}">
      <dsp:nvSpPr>
        <dsp:cNvPr id="0" name=""/>
        <dsp:cNvSpPr/>
      </dsp:nvSpPr>
      <dsp:spPr>
        <a:xfrm>
          <a:off x="4931071" y="1212332"/>
          <a:ext cx="477958" cy="91440"/>
        </a:xfrm>
        <a:custGeom>
          <a:avLst/>
          <a:gdLst/>
          <a:ahLst/>
          <a:cxnLst/>
          <a:rect l="0" t="0" r="0" b="0"/>
          <a:pathLst>
            <a:path>
              <a:moveTo>
                <a:pt x="0" y="45720"/>
              </a:moveTo>
              <a:lnTo>
                <a:pt x="477958" y="45720"/>
              </a:lnTo>
            </a:path>
          </a:pathLst>
        </a:custGeom>
        <a:noFill/>
        <a:ln w="9525" cap="flat" cmpd="sng" algn="ctr">
          <a:solidFill>
            <a:schemeClr val="accent5">
              <a:hueOff val="-1126424"/>
              <a:satOff val="-2903"/>
              <a:lumOff val="-1961"/>
              <a:alphaOff val="0"/>
            </a:schemeClr>
          </a:solidFill>
          <a:prstDash val="solid"/>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5157336" y="1255509"/>
        <a:ext cx="25427" cy="5085"/>
      </dsp:txXfrm>
    </dsp:sp>
    <dsp:sp modelId="{32774EB3-7DDC-49F9-9534-D650974F8055}">
      <dsp:nvSpPr>
        <dsp:cNvPr id="0" name=""/>
        <dsp:cNvSpPr/>
      </dsp:nvSpPr>
      <dsp:spPr>
        <a:xfrm>
          <a:off x="2721747" y="594715"/>
          <a:ext cx="2211124" cy="1326674"/>
        </a:xfrm>
        <a:prstGeom prst="rect">
          <a:avLst/>
        </a:prstGeom>
        <a:solidFill>
          <a:schemeClr val="accent5">
            <a:hueOff val="-965506"/>
            <a:satOff val="-2488"/>
            <a:lumOff val="-1681"/>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8347" tIns="113729" rIns="108347" bIns="113729" numCol="1" spcCol="1270" anchor="ctr" anchorCtr="0">
          <a:noAutofit/>
        </a:bodyPr>
        <a:lstStyle/>
        <a:p>
          <a:pPr marL="0" lvl="0" indent="0" algn="ctr" defTabSz="577850">
            <a:lnSpc>
              <a:spcPct val="90000"/>
            </a:lnSpc>
            <a:spcBef>
              <a:spcPct val="0"/>
            </a:spcBef>
            <a:spcAft>
              <a:spcPct val="35000"/>
            </a:spcAft>
            <a:buNone/>
          </a:pPr>
          <a:r>
            <a:rPr lang="en-US" sz="1300" kern="1200" dirty="0"/>
            <a:t>The key objectives of this project is:</a:t>
          </a:r>
        </a:p>
      </dsp:txBody>
      <dsp:txXfrm>
        <a:off x="2721747" y="594715"/>
        <a:ext cx="2211124" cy="1326674"/>
      </dsp:txXfrm>
    </dsp:sp>
    <dsp:sp modelId="{9F4AA830-306B-47AC-922F-FDB2B3E1EB01}">
      <dsp:nvSpPr>
        <dsp:cNvPr id="0" name=""/>
        <dsp:cNvSpPr/>
      </dsp:nvSpPr>
      <dsp:spPr>
        <a:xfrm>
          <a:off x="7650753" y="1212332"/>
          <a:ext cx="477958" cy="91440"/>
        </a:xfrm>
        <a:custGeom>
          <a:avLst/>
          <a:gdLst/>
          <a:ahLst/>
          <a:cxnLst/>
          <a:rect l="0" t="0" r="0" b="0"/>
          <a:pathLst>
            <a:path>
              <a:moveTo>
                <a:pt x="0" y="45720"/>
              </a:moveTo>
              <a:lnTo>
                <a:pt x="477958" y="45720"/>
              </a:lnTo>
            </a:path>
          </a:pathLst>
        </a:custGeom>
        <a:noFill/>
        <a:ln w="9525" cap="flat" cmpd="sng" algn="ctr">
          <a:solidFill>
            <a:schemeClr val="accent5">
              <a:hueOff val="-2252848"/>
              <a:satOff val="-5806"/>
              <a:lumOff val="-3922"/>
              <a:alphaOff val="0"/>
            </a:schemeClr>
          </a:solidFill>
          <a:prstDash val="solid"/>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7877019" y="1255509"/>
        <a:ext cx="25427" cy="5085"/>
      </dsp:txXfrm>
    </dsp:sp>
    <dsp:sp modelId="{3200BBB7-466C-4CF5-8FAD-91939A7344BA}">
      <dsp:nvSpPr>
        <dsp:cNvPr id="0" name=""/>
        <dsp:cNvSpPr/>
      </dsp:nvSpPr>
      <dsp:spPr>
        <a:xfrm>
          <a:off x="5441429" y="594715"/>
          <a:ext cx="2211124" cy="1326674"/>
        </a:xfrm>
        <a:prstGeom prst="rect">
          <a:avLst/>
        </a:prstGeom>
        <a:solidFill>
          <a:schemeClr val="accent5">
            <a:hueOff val="-1931012"/>
            <a:satOff val="-4977"/>
            <a:lumOff val="-3361"/>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8347" tIns="113729" rIns="108347" bIns="113729" numCol="1" spcCol="1270" anchor="ctr" anchorCtr="0">
          <a:noAutofit/>
        </a:bodyPr>
        <a:lstStyle/>
        <a:p>
          <a:pPr marL="0" lvl="0" indent="0" algn="ctr" defTabSz="577850">
            <a:lnSpc>
              <a:spcPct val="90000"/>
            </a:lnSpc>
            <a:spcBef>
              <a:spcPct val="0"/>
            </a:spcBef>
            <a:spcAft>
              <a:spcPct val="35000"/>
            </a:spcAft>
            <a:buNone/>
          </a:pPr>
          <a:r>
            <a:rPr lang="en-US" sz="1300" kern="1200" dirty="0"/>
            <a:t>Understand relational database structure.</a:t>
          </a:r>
        </a:p>
      </dsp:txBody>
      <dsp:txXfrm>
        <a:off x="5441429" y="594715"/>
        <a:ext cx="2211124" cy="1326674"/>
      </dsp:txXfrm>
    </dsp:sp>
    <dsp:sp modelId="{59FFB577-5F33-4925-B286-BB2721A0FBB1}">
      <dsp:nvSpPr>
        <dsp:cNvPr id="0" name=""/>
        <dsp:cNvSpPr/>
      </dsp:nvSpPr>
      <dsp:spPr>
        <a:xfrm>
          <a:off x="1107626" y="1919589"/>
          <a:ext cx="8159048" cy="477958"/>
        </a:xfrm>
        <a:custGeom>
          <a:avLst/>
          <a:gdLst/>
          <a:ahLst/>
          <a:cxnLst/>
          <a:rect l="0" t="0" r="0" b="0"/>
          <a:pathLst>
            <a:path>
              <a:moveTo>
                <a:pt x="8159048" y="0"/>
              </a:moveTo>
              <a:lnTo>
                <a:pt x="8159048" y="256079"/>
              </a:lnTo>
              <a:lnTo>
                <a:pt x="0" y="256079"/>
              </a:lnTo>
              <a:lnTo>
                <a:pt x="0" y="477958"/>
              </a:lnTo>
            </a:path>
          </a:pathLst>
        </a:custGeom>
        <a:noFill/>
        <a:ln w="9525" cap="flat" cmpd="sng" algn="ctr">
          <a:solidFill>
            <a:schemeClr val="accent5">
              <a:hueOff val="-3379271"/>
              <a:satOff val="-8710"/>
              <a:lumOff val="-5883"/>
              <a:alphaOff val="0"/>
            </a:schemeClr>
          </a:solidFill>
          <a:prstDash val="solid"/>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4982778" y="2156026"/>
        <a:ext cx="408744" cy="5085"/>
      </dsp:txXfrm>
    </dsp:sp>
    <dsp:sp modelId="{6F1A0288-3FC4-4F61-9890-733ACBB2DD72}">
      <dsp:nvSpPr>
        <dsp:cNvPr id="0" name=""/>
        <dsp:cNvSpPr/>
      </dsp:nvSpPr>
      <dsp:spPr>
        <a:xfrm>
          <a:off x="8161112" y="594715"/>
          <a:ext cx="2211124" cy="1326674"/>
        </a:xfrm>
        <a:prstGeom prst="rect">
          <a:avLst/>
        </a:prstGeom>
        <a:solidFill>
          <a:schemeClr val="accent5">
            <a:hueOff val="-2896518"/>
            <a:satOff val="-7465"/>
            <a:lumOff val="-5042"/>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8347" tIns="113729" rIns="108347" bIns="113729" numCol="1" spcCol="1270" anchor="ctr" anchorCtr="0">
          <a:noAutofit/>
        </a:bodyPr>
        <a:lstStyle/>
        <a:p>
          <a:pPr marL="0" lvl="0" indent="0" algn="ctr" defTabSz="577850">
            <a:lnSpc>
              <a:spcPct val="90000"/>
            </a:lnSpc>
            <a:spcBef>
              <a:spcPct val="0"/>
            </a:spcBef>
            <a:spcAft>
              <a:spcPct val="35000"/>
            </a:spcAft>
            <a:buNone/>
          </a:pPr>
          <a:r>
            <a:rPr lang="en-US" sz="1300" kern="1200" dirty="0"/>
            <a:t>Apply SQL concepts to get the meaningful insights from the data.</a:t>
          </a:r>
        </a:p>
      </dsp:txBody>
      <dsp:txXfrm>
        <a:off x="8161112" y="594715"/>
        <a:ext cx="2211124" cy="1326674"/>
      </dsp:txXfrm>
    </dsp:sp>
    <dsp:sp modelId="{38A4C6C8-4597-4A42-B7D8-13905C5DC07F}">
      <dsp:nvSpPr>
        <dsp:cNvPr id="0" name=""/>
        <dsp:cNvSpPr/>
      </dsp:nvSpPr>
      <dsp:spPr>
        <a:xfrm>
          <a:off x="2211388" y="3047565"/>
          <a:ext cx="477958" cy="91440"/>
        </a:xfrm>
        <a:custGeom>
          <a:avLst/>
          <a:gdLst/>
          <a:ahLst/>
          <a:cxnLst/>
          <a:rect l="0" t="0" r="0" b="0"/>
          <a:pathLst>
            <a:path>
              <a:moveTo>
                <a:pt x="0" y="45720"/>
              </a:moveTo>
              <a:lnTo>
                <a:pt x="477958" y="45720"/>
              </a:lnTo>
            </a:path>
          </a:pathLst>
        </a:custGeom>
        <a:noFill/>
        <a:ln w="9525" cap="flat" cmpd="sng" algn="ctr">
          <a:solidFill>
            <a:schemeClr val="accent5">
              <a:hueOff val="-4505695"/>
              <a:satOff val="-11613"/>
              <a:lumOff val="-7843"/>
              <a:alphaOff val="0"/>
            </a:schemeClr>
          </a:solidFill>
          <a:prstDash val="solid"/>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2437653" y="3090742"/>
        <a:ext cx="25427" cy="5085"/>
      </dsp:txXfrm>
    </dsp:sp>
    <dsp:sp modelId="{8369E101-C79B-4A48-A168-64CFE30E5163}">
      <dsp:nvSpPr>
        <dsp:cNvPr id="0" name=""/>
        <dsp:cNvSpPr/>
      </dsp:nvSpPr>
      <dsp:spPr>
        <a:xfrm>
          <a:off x="2064" y="2429948"/>
          <a:ext cx="2211124" cy="1326674"/>
        </a:xfrm>
        <a:prstGeom prst="rect">
          <a:avLst/>
        </a:prstGeom>
        <a:solidFill>
          <a:schemeClr val="accent5">
            <a:hueOff val="-3862025"/>
            <a:satOff val="-9954"/>
            <a:lumOff val="-6723"/>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8347" tIns="113729" rIns="108347" bIns="113729" numCol="1" spcCol="1270" anchor="ctr" anchorCtr="0">
          <a:noAutofit/>
        </a:bodyPr>
        <a:lstStyle/>
        <a:p>
          <a:pPr marL="0" lvl="0" indent="0" algn="ctr" defTabSz="577850">
            <a:lnSpc>
              <a:spcPct val="90000"/>
            </a:lnSpc>
            <a:spcBef>
              <a:spcPct val="0"/>
            </a:spcBef>
            <a:spcAft>
              <a:spcPct val="35000"/>
            </a:spcAft>
            <a:buNone/>
          </a:pPr>
          <a:r>
            <a:rPr lang="en-US" sz="1300" kern="1200" dirty="0"/>
            <a:t>Practice complex SQL queries.</a:t>
          </a:r>
        </a:p>
      </dsp:txBody>
      <dsp:txXfrm>
        <a:off x="2064" y="2429948"/>
        <a:ext cx="2211124" cy="1326674"/>
      </dsp:txXfrm>
    </dsp:sp>
    <dsp:sp modelId="{F89FD438-180E-4052-8E40-2E6576520546}">
      <dsp:nvSpPr>
        <dsp:cNvPr id="0" name=""/>
        <dsp:cNvSpPr/>
      </dsp:nvSpPr>
      <dsp:spPr>
        <a:xfrm>
          <a:off x="4931071" y="3047565"/>
          <a:ext cx="477958" cy="91440"/>
        </a:xfrm>
        <a:custGeom>
          <a:avLst/>
          <a:gdLst/>
          <a:ahLst/>
          <a:cxnLst/>
          <a:rect l="0" t="0" r="0" b="0"/>
          <a:pathLst>
            <a:path>
              <a:moveTo>
                <a:pt x="0" y="45720"/>
              </a:moveTo>
              <a:lnTo>
                <a:pt x="477958" y="45720"/>
              </a:lnTo>
            </a:path>
          </a:pathLst>
        </a:custGeom>
        <a:noFill/>
        <a:ln w="9525" cap="flat" cmpd="sng" algn="ctr">
          <a:solidFill>
            <a:schemeClr val="accent5">
              <a:hueOff val="-5632119"/>
              <a:satOff val="-14516"/>
              <a:lumOff val="-9804"/>
              <a:alphaOff val="0"/>
            </a:schemeClr>
          </a:solidFill>
          <a:prstDash val="solid"/>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5157336" y="3090742"/>
        <a:ext cx="25427" cy="5085"/>
      </dsp:txXfrm>
    </dsp:sp>
    <dsp:sp modelId="{69D74BC8-0B03-4C67-A8AA-2D394F4211AE}">
      <dsp:nvSpPr>
        <dsp:cNvPr id="0" name=""/>
        <dsp:cNvSpPr/>
      </dsp:nvSpPr>
      <dsp:spPr>
        <a:xfrm>
          <a:off x="2721747" y="2429948"/>
          <a:ext cx="2211124" cy="1326674"/>
        </a:xfrm>
        <a:prstGeom prst="rect">
          <a:avLst/>
        </a:prstGeom>
        <a:solidFill>
          <a:schemeClr val="accent5">
            <a:hueOff val="-4827531"/>
            <a:satOff val="-12442"/>
            <a:lumOff val="-8404"/>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8347" tIns="113729" rIns="108347" bIns="113729" numCol="1" spcCol="1270" anchor="ctr" anchorCtr="0">
          <a:noAutofit/>
        </a:bodyPr>
        <a:lstStyle/>
        <a:p>
          <a:pPr marL="0" lvl="0" indent="0" algn="ctr" defTabSz="577850">
            <a:lnSpc>
              <a:spcPct val="90000"/>
            </a:lnSpc>
            <a:spcBef>
              <a:spcPct val="0"/>
            </a:spcBef>
            <a:spcAft>
              <a:spcPct val="35000"/>
            </a:spcAft>
            <a:buNone/>
          </a:pPr>
          <a:r>
            <a:rPr lang="en-US" sz="1300" kern="1200" dirty="0"/>
            <a:t>Analyze the customer </a:t>
          </a:r>
          <a:r>
            <a:rPr lang="en-US" sz="1300" kern="1200" dirty="0" err="1"/>
            <a:t>behaviour</a:t>
          </a:r>
          <a:r>
            <a:rPr lang="en-US" sz="1300" kern="1200" dirty="0"/>
            <a:t> and sales pattern.</a:t>
          </a:r>
        </a:p>
      </dsp:txBody>
      <dsp:txXfrm>
        <a:off x="2721747" y="2429948"/>
        <a:ext cx="2211124" cy="1326674"/>
      </dsp:txXfrm>
    </dsp:sp>
    <dsp:sp modelId="{2BBE6445-BA58-4F9D-BB45-B047DBCB5B53}">
      <dsp:nvSpPr>
        <dsp:cNvPr id="0" name=""/>
        <dsp:cNvSpPr/>
      </dsp:nvSpPr>
      <dsp:spPr>
        <a:xfrm>
          <a:off x="7650753" y="3047565"/>
          <a:ext cx="477958" cy="91440"/>
        </a:xfrm>
        <a:custGeom>
          <a:avLst/>
          <a:gdLst/>
          <a:ahLst/>
          <a:cxnLst/>
          <a:rect l="0" t="0" r="0" b="0"/>
          <a:pathLst>
            <a:path>
              <a:moveTo>
                <a:pt x="0" y="45720"/>
              </a:moveTo>
              <a:lnTo>
                <a:pt x="477958" y="45720"/>
              </a:lnTo>
            </a:path>
          </a:pathLst>
        </a:custGeom>
        <a:noFill/>
        <a:ln w="9525" cap="flat" cmpd="sng" algn="ctr">
          <a:solidFill>
            <a:schemeClr val="accent5">
              <a:hueOff val="-6758543"/>
              <a:satOff val="-17419"/>
              <a:lumOff val="-11765"/>
              <a:alphaOff val="0"/>
            </a:schemeClr>
          </a:solidFill>
          <a:prstDash val="solid"/>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7877019" y="3090742"/>
        <a:ext cx="25427" cy="5085"/>
      </dsp:txXfrm>
    </dsp:sp>
    <dsp:sp modelId="{CA344555-BBBC-445A-8BDE-A85BD32A4728}">
      <dsp:nvSpPr>
        <dsp:cNvPr id="0" name=""/>
        <dsp:cNvSpPr/>
      </dsp:nvSpPr>
      <dsp:spPr>
        <a:xfrm>
          <a:off x="5441429" y="2429948"/>
          <a:ext cx="2211124" cy="1326674"/>
        </a:xfrm>
        <a:prstGeom prst="rect">
          <a:avLst/>
        </a:prstGeom>
        <a:solidFill>
          <a:schemeClr val="accent5">
            <a:hueOff val="-5793037"/>
            <a:satOff val="-14931"/>
            <a:lumOff val="-10084"/>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8347" tIns="113729" rIns="108347" bIns="113729" numCol="1" spcCol="1270" anchor="ctr" anchorCtr="0">
          <a:noAutofit/>
        </a:bodyPr>
        <a:lstStyle/>
        <a:p>
          <a:pPr marL="0" lvl="0" indent="0" algn="ctr" defTabSz="577850">
            <a:lnSpc>
              <a:spcPct val="90000"/>
            </a:lnSpc>
            <a:spcBef>
              <a:spcPct val="0"/>
            </a:spcBef>
            <a:spcAft>
              <a:spcPct val="35000"/>
            </a:spcAft>
            <a:buNone/>
          </a:pPr>
          <a:r>
            <a:rPr lang="en-US" sz="1300" kern="1200" dirty="0"/>
            <a:t>Identify top customers, popular genres, popular cities and revenue sources.</a:t>
          </a:r>
        </a:p>
      </dsp:txBody>
      <dsp:txXfrm>
        <a:off x="5441429" y="2429948"/>
        <a:ext cx="2211124" cy="1326674"/>
      </dsp:txXfrm>
    </dsp:sp>
    <dsp:sp modelId="{B27E7DF8-F2DD-4C9C-9BC6-301A80BBDF69}">
      <dsp:nvSpPr>
        <dsp:cNvPr id="0" name=""/>
        <dsp:cNvSpPr/>
      </dsp:nvSpPr>
      <dsp:spPr>
        <a:xfrm>
          <a:off x="8161112" y="2429948"/>
          <a:ext cx="2211124" cy="1326674"/>
        </a:xfrm>
        <a:prstGeom prst="rect">
          <a:avLst/>
        </a:prstGeom>
        <a:solidFill>
          <a:schemeClr val="accent5">
            <a:hueOff val="-6758543"/>
            <a:satOff val="-17419"/>
            <a:lumOff val="-11765"/>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8347" tIns="113729" rIns="108347" bIns="113729" numCol="1" spcCol="1270" anchor="t" anchorCtr="0">
          <a:noAutofit/>
        </a:bodyPr>
        <a:lstStyle/>
        <a:p>
          <a:pPr marL="0" lvl="0" indent="0" algn="l" defTabSz="577850">
            <a:lnSpc>
              <a:spcPct val="90000"/>
            </a:lnSpc>
            <a:spcBef>
              <a:spcPct val="0"/>
            </a:spcBef>
            <a:spcAft>
              <a:spcPct val="35000"/>
            </a:spcAft>
            <a:buNone/>
          </a:pPr>
          <a:r>
            <a:rPr lang="en-US" sz="1300" kern="1200" dirty="0"/>
            <a:t>Support data-driven business decisions.</a:t>
          </a:r>
        </a:p>
        <a:p>
          <a:pPr marL="57150" lvl="1" indent="-57150" algn="l" defTabSz="444500">
            <a:lnSpc>
              <a:spcPct val="90000"/>
            </a:lnSpc>
            <a:spcBef>
              <a:spcPct val="0"/>
            </a:spcBef>
            <a:spcAft>
              <a:spcPct val="15000"/>
            </a:spcAft>
            <a:buChar char="•"/>
          </a:pPr>
          <a:r>
            <a:rPr lang="en-US" sz="1000" kern="1200" dirty="0"/>
            <a:t>This project applies SQL concepts to a real-world dataset to simulate business analytics scenarios</a:t>
          </a:r>
        </a:p>
      </dsp:txBody>
      <dsp:txXfrm>
        <a:off x="8161112" y="2429948"/>
        <a:ext cx="2211124" cy="1326674"/>
      </dsp:txXfrm>
    </dsp:sp>
  </dsp:spTree>
</dsp:drawing>
</file>

<file path=ppt/diagrams/layout1.xml><?xml version="1.0" encoding="utf-8"?>
<dgm:layoutDef xmlns:dgm="http://schemas.openxmlformats.org/drawingml/2006/diagram" xmlns:a="http://schemas.openxmlformats.org/drawingml/2006/main" uniqueId="urn:microsoft.com/office/officeart/2016/7/layout/RepeatingBendingProcessNew">
  <dgm:title val="Repeating Bending Process New"/>
  <dgm:desc val=""/>
  <dgm:catLst>
    <dgm:cat type="process" pri="5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7" srcId="0" destId="1" srcOrd="0" destOrd="0"/>
        <dgm:cxn modelId="8" srcId="0" destId="2" srcOrd="1" destOrd="0"/>
        <dgm:cxn modelId="9" srcId="0" destId="3" srcOrd="2" destOrd="0"/>
        <dgm:cxn modelId="10" srcId="0" destId="4" srcOrd="3" destOrd="0"/>
        <dgm:cxn modelId="11"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axis="self" func="var" arg="dir" op="equ" val="norm">
        <dgm:alg type="snake">
          <dgm:param type="grDir" val="tL"/>
          <dgm:param type="flowDir" val="row"/>
          <dgm:param type="contDir" val="sameDir"/>
          <dgm:param type="bkpt" val="endCnv"/>
        </dgm:alg>
      </dgm:if>
      <dgm:else name="Name3">
        <dgm:alg type="snake">
          <dgm:param type="grDir" val="tR"/>
          <dgm:param type="flowDir" val="row"/>
          <dgm:param type="contDir" val="sameDir"/>
          <dgm:param type="bkpt" val="endCnv"/>
        </dgm:alg>
      </dgm:else>
    </dgm:choose>
    <dgm:shape xmlns:r="http://schemas.openxmlformats.org/officeDocument/2006/relationships" r:blip="">
      <dgm:adjLst/>
    </dgm:shape>
    <dgm:presOf/>
    <dgm:constrLst>
      <dgm:constr type="w" for="ch" ptType="node" refType="w"/>
      <dgm:constr type="w" for="ch" forName="sibTrans" refType="w" refFor="ch" refPtType="node" op="equ" fact="0.23"/>
      <dgm:constr type="sp" refType="w" refFor="ch" refForName="sibTrans" op="equ"/>
      <dgm:constr type="userB" for="des" forName="connectorText" refType="sp"/>
      <dgm:constr type="primFontSz" for="ch" ptType="node" op="equ" val="65"/>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ect" r:blip="">
          <dgm:adjLst/>
        </dgm:shape>
        <dgm:presOf axis="desOrSelf" ptType="node"/>
        <dgm:constrLst>
          <dgm:constr type="h" refType="w" fact="0.6"/>
          <dgm:constr type="tMarg" refType="h" fact="0.243"/>
          <dgm:constr type="bMarg" refType="h" fact="0.243"/>
          <dgm:constr type="lMarg" refType="w" fact="0.1389"/>
          <dgm:constr type="rMarg" refType="w" fact="0.1389"/>
        </dgm:constrLst>
        <dgm:ruleLst>
          <dgm:rule type="primFontSz" val="12" fact="NaN" max="NaN"/>
        </dgm:ruleLst>
      </dgm:layoutNode>
      <dgm:forEach name="sibTransForEach" axis="followSib" ptType="sibTrans" cnt="1">
        <dgm:layoutNode name="sibTrans">
          <dgm:choose name="Name4">
            <dgm:if name="Name5" axis="self" func="var" arg="dir" op="equ" val="norm">
              <dgm:alg type="conn">
                <dgm:param type="connRout" val="bend"/>
                <dgm:param type="dim" val="1D"/>
                <dgm:param type="begPts" val="midR bCtr"/>
                <dgm:param type="endPts" val="midL tCtr"/>
              </dgm:alg>
            </dgm:if>
            <dgm:else name="Name6">
              <dgm:alg type="conn">
                <dgm:param type="connRout" val="bend"/>
                <dgm:param type="dim" val="1D"/>
                <dgm:param type="begPts" val="midL bCtr"/>
                <dgm:param type="endPts" val="midR tCtr"/>
              </dgm:alg>
            </dgm:else>
          </dgm:choose>
          <dgm:shape xmlns:r="http://schemas.openxmlformats.org/officeDocument/2006/relationships" type="conn" r:blip="" zOrderOff="-2">
            <dgm:adjLst/>
          </dgm:shape>
          <dgm:presOf axis="self"/>
          <dgm:constrLst>
            <dgm:constr type="begPad" val="-0.05"/>
            <dgm:constr type="endPad" val="0.9"/>
            <dgm:constr type="userA" for="ch" refType="connDist"/>
          </dgm:constrLst>
          <dgm:ruleLst/>
          <dgm:layoutNode name="connectorText">
            <dgm:alg type="tx">
              <dgm:param type="autoTxRot" val="upr"/>
            </dgm:alg>
            <dgm:shape xmlns:r="http://schemas.openxmlformats.org/officeDocument/2006/relationships" type="rect" r:blip="" hideGeom="1">
              <dgm:adjLst/>
            </dgm:shape>
            <dgm:presOf axis="self"/>
            <dgm:constrLst>
              <dgm:constr type="userA"/>
              <dgm:constr type="userB"/>
              <dgm:constr type="w" refType="userA" fact="0.05"/>
              <dgm:constr type="h" refType="userB" fact="0.01"/>
              <dgm:constr type="lMarg" val="1"/>
              <dgm:constr type="rMarg" val="1"/>
              <dgm:constr type="tMarg"/>
              <dgm:constr type="bMarg"/>
            </dgm:constrLst>
            <dgm:ruleLst>
              <dgm:rule type="w" val="NaN" fact="0.6" max="NaN"/>
              <dgm:rule type="h" val="NaN" fact="0.6" max="NaN"/>
              <dgm:rule type="primFontSz" val="5" fact="NaN" max="NaN"/>
            </dgm:ruleLst>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IN"/>
          </a:p>
        </p:txBody>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IN"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
        <p:cNvGrpSpPr/>
        <p:nvPr/>
      </p:nvGrpSpPr>
      <p:grpSpPr>
        <a:xfrm>
          <a:off x="0" y="0"/>
          <a:ext cx="0" cy="0"/>
          <a:chOff x="0" y="0"/>
          <a:chExt cx="0" cy="0"/>
        </a:xfrm>
      </p:grpSpPr>
      <p:sp>
        <p:nvSpPr>
          <p:cNvPr id="95" name="Google Shape;95;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400"/>
              <a:buFont typeface="Calibri"/>
              <a:buNone/>
            </a:pPr>
            <a:endParaRPr/>
          </a:p>
        </p:txBody>
      </p:sp>
      <p:sp>
        <p:nvSpPr>
          <p:cNvPr id="96" name="Google Shape;96;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IN"/>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
          <a:extLst>
            <a:ext uri="{FF2B5EF4-FFF2-40B4-BE49-F238E27FC236}">
              <a16:creationId xmlns:a16="http://schemas.microsoft.com/office/drawing/2014/main" id="{52050384-1FB6-78F4-0B20-D61D1068677E}"/>
            </a:ext>
          </a:extLst>
        </p:cNvPr>
        <p:cNvGrpSpPr/>
        <p:nvPr/>
      </p:nvGrpSpPr>
      <p:grpSpPr>
        <a:xfrm>
          <a:off x="0" y="0"/>
          <a:ext cx="0" cy="0"/>
          <a:chOff x="0" y="0"/>
          <a:chExt cx="0" cy="0"/>
        </a:xfrm>
      </p:grpSpPr>
      <p:sp>
        <p:nvSpPr>
          <p:cNvPr id="107" name="Google Shape;107;p4:notes">
            <a:extLst>
              <a:ext uri="{FF2B5EF4-FFF2-40B4-BE49-F238E27FC236}">
                <a16:creationId xmlns:a16="http://schemas.microsoft.com/office/drawing/2014/main" id="{331B5C52-20B5-D622-1E5C-D3496FCA441D}"/>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8" name="Google Shape;108;p4:notes">
            <a:extLst>
              <a:ext uri="{FF2B5EF4-FFF2-40B4-BE49-F238E27FC236}">
                <a16:creationId xmlns:a16="http://schemas.microsoft.com/office/drawing/2014/main" id="{B337CB64-58E2-5DEB-3BC4-9B10F95F911E}"/>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IN"/>
          </a:p>
        </p:txBody>
      </p:sp>
    </p:spTree>
    <p:extLst>
      <p:ext uri="{BB962C8B-B14F-4D97-AF65-F5344CB8AC3E}">
        <p14:creationId xmlns:p14="http://schemas.microsoft.com/office/powerpoint/2010/main" val="376424344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
          <a:extLst>
            <a:ext uri="{FF2B5EF4-FFF2-40B4-BE49-F238E27FC236}">
              <a16:creationId xmlns:a16="http://schemas.microsoft.com/office/drawing/2014/main" id="{482E1743-6D75-5B08-DFD0-A52D5129E6C8}"/>
            </a:ext>
          </a:extLst>
        </p:cNvPr>
        <p:cNvGrpSpPr/>
        <p:nvPr/>
      </p:nvGrpSpPr>
      <p:grpSpPr>
        <a:xfrm>
          <a:off x="0" y="0"/>
          <a:ext cx="0" cy="0"/>
          <a:chOff x="0" y="0"/>
          <a:chExt cx="0" cy="0"/>
        </a:xfrm>
      </p:grpSpPr>
      <p:sp>
        <p:nvSpPr>
          <p:cNvPr id="107" name="Google Shape;107;p4:notes">
            <a:extLst>
              <a:ext uri="{FF2B5EF4-FFF2-40B4-BE49-F238E27FC236}">
                <a16:creationId xmlns:a16="http://schemas.microsoft.com/office/drawing/2014/main" id="{6136BBFD-E47C-A3A8-248C-E2EC9FEBA677}"/>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8" name="Google Shape;108;p4:notes">
            <a:extLst>
              <a:ext uri="{FF2B5EF4-FFF2-40B4-BE49-F238E27FC236}">
                <a16:creationId xmlns:a16="http://schemas.microsoft.com/office/drawing/2014/main" id="{4E7EAC35-3471-4366-6928-A444AF2FDC26}"/>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IN"/>
          </a:p>
        </p:txBody>
      </p:sp>
    </p:spTree>
    <p:extLst>
      <p:ext uri="{BB962C8B-B14F-4D97-AF65-F5344CB8AC3E}">
        <p14:creationId xmlns:p14="http://schemas.microsoft.com/office/powerpoint/2010/main" val="244897316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
          <a:extLst>
            <a:ext uri="{FF2B5EF4-FFF2-40B4-BE49-F238E27FC236}">
              <a16:creationId xmlns:a16="http://schemas.microsoft.com/office/drawing/2014/main" id="{F78D3E61-873F-C61D-B399-9462C7D272DA}"/>
            </a:ext>
          </a:extLst>
        </p:cNvPr>
        <p:cNvGrpSpPr/>
        <p:nvPr/>
      </p:nvGrpSpPr>
      <p:grpSpPr>
        <a:xfrm>
          <a:off x="0" y="0"/>
          <a:ext cx="0" cy="0"/>
          <a:chOff x="0" y="0"/>
          <a:chExt cx="0" cy="0"/>
        </a:xfrm>
      </p:grpSpPr>
      <p:sp>
        <p:nvSpPr>
          <p:cNvPr id="107" name="Google Shape;107;p4:notes">
            <a:extLst>
              <a:ext uri="{FF2B5EF4-FFF2-40B4-BE49-F238E27FC236}">
                <a16:creationId xmlns:a16="http://schemas.microsoft.com/office/drawing/2014/main" id="{FDF1DB98-D997-9F82-8D50-902F0FAA043B}"/>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dirty="0"/>
          </a:p>
        </p:txBody>
      </p:sp>
      <p:sp>
        <p:nvSpPr>
          <p:cNvPr id="108" name="Google Shape;108;p4:notes">
            <a:extLst>
              <a:ext uri="{FF2B5EF4-FFF2-40B4-BE49-F238E27FC236}">
                <a16:creationId xmlns:a16="http://schemas.microsoft.com/office/drawing/2014/main" id="{E2198275-CFBE-4C10-252C-FB5C71836ED7}"/>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IN"/>
          </a:p>
        </p:txBody>
      </p:sp>
    </p:spTree>
    <p:extLst>
      <p:ext uri="{BB962C8B-B14F-4D97-AF65-F5344CB8AC3E}">
        <p14:creationId xmlns:p14="http://schemas.microsoft.com/office/powerpoint/2010/main" val="349509165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
          <a:extLst>
            <a:ext uri="{FF2B5EF4-FFF2-40B4-BE49-F238E27FC236}">
              <a16:creationId xmlns:a16="http://schemas.microsoft.com/office/drawing/2014/main" id="{DCC409F1-0232-AB37-1906-10D3447E3F28}"/>
            </a:ext>
          </a:extLst>
        </p:cNvPr>
        <p:cNvGrpSpPr/>
        <p:nvPr/>
      </p:nvGrpSpPr>
      <p:grpSpPr>
        <a:xfrm>
          <a:off x="0" y="0"/>
          <a:ext cx="0" cy="0"/>
          <a:chOff x="0" y="0"/>
          <a:chExt cx="0" cy="0"/>
        </a:xfrm>
      </p:grpSpPr>
      <p:sp>
        <p:nvSpPr>
          <p:cNvPr id="107" name="Google Shape;107;p4:notes">
            <a:extLst>
              <a:ext uri="{FF2B5EF4-FFF2-40B4-BE49-F238E27FC236}">
                <a16:creationId xmlns:a16="http://schemas.microsoft.com/office/drawing/2014/main" id="{4CA29820-661E-7FF8-6B2F-FC0B8AFC5351}"/>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8" name="Google Shape;108;p4:notes">
            <a:extLst>
              <a:ext uri="{FF2B5EF4-FFF2-40B4-BE49-F238E27FC236}">
                <a16:creationId xmlns:a16="http://schemas.microsoft.com/office/drawing/2014/main" id="{4CA12CB9-2027-2CBA-2846-DF3D15332931}"/>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IN"/>
          </a:p>
        </p:txBody>
      </p:sp>
    </p:spTree>
    <p:extLst>
      <p:ext uri="{BB962C8B-B14F-4D97-AF65-F5344CB8AC3E}">
        <p14:creationId xmlns:p14="http://schemas.microsoft.com/office/powerpoint/2010/main" val="194120628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
          <a:extLst>
            <a:ext uri="{FF2B5EF4-FFF2-40B4-BE49-F238E27FC236}">
              <a16:creationId xmlns:a16="http://schemas.microsoft.com/office/drawing/2014/main" id="{F5595378-4958-D9CB-5C38-B0781396D430}"/>
            </a:ext>
          </a:extLst>
        </p:cNvPr>
        <p:cNvGrpSpPr/>
        <p:nvPr/>
      </p:nvGrpSpPr>
      <p:grpSpPr>
        <a:xfrm>
          <a:off x="0" y="0"/>
          <a:ext cx="0" cy="0"/>
          <a:chOff x="0" y="0"/>
          <a:chExt cx="0" cy="0"/>
        </a:xfrm>
      </p:grpSpPr>
      <p:sp>
        <p:nvSpPr>
          <p:cNvPr id="107" name="Google Shape;107;p4:notes">
            <a:extLst>
              <a:ext uri="{FF2B5EF4-FFF2-40B4-BE49-F238E27FC236}">
                <a16:creationId xmlns:a16="http://schemas.microsoft.com/office/drawing/2014/main" id="{F1226EF9-3B0E-9B3E-F533-57F15C5085B0}"/>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dirty="0"/>
          </a:p>
        </p:txBody>
      </p:sp>
      <p:sp>
        <p:nvSpPr>
          <p:cNvPr id="108" name="Google Shape;108;p4:notes">
            <a:extLst>
              <a:ext uri="{FF2B5EF4-FFF2-40B4-BE49-F238E27FC236}">
                <a16:creationId xmlns:a16="http://schemas.microsoft.com/office/drawing/2014/main" id="{D1CFC69C-082E-6F8E-623B-17ADF76327BA}"/>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IN"/>
          </a:p>
        </p:txBody>
      </p:sp>
    </p:spTree>
    <p:extLst>
      <p:ext uri="{BB962C8B-B14F-4D97-AF65-F5344CB8AC3E}">
        <p14:creationId xmlns:p14="http://schemas.microsoft.com/office/powerpoint/2010/main" val="413268967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
          <a:extLst>
            <a:ext uri="{FF2B5EF4-FFF2-40B4-BE49-F238E27FC236}">
              <a16:creationId xmlns:a16="http://schemas.microsoft.com/office/drawing/2014/main" id="{7407DC22-5966-D73B-8D51-74461A11710A}"/>
            </a:ext>
          </a:extLst>
        </p:cNvPr>
        <p:cNvGrpSpPr/>
        <p:nvPr/>
      </p:nvGrpSpPr>
      <p:grpSpPr>
        <a:xfrm>
          <a:off x="0" y="0"/>
          <a:ext cx="0" cy="0"/>
          <a:chOff x="0" y="0"/>
          <a:chExt cx="0" cy="0"/>
        </a:xfrm>
      </p:grpSpPr>
      <p:sp>
        <p:nvSpPr>
          <p:cNvPr id="107" name="Google Shape;107;p4:notes">
            <a:extLst>
              <a:ext uri="{FF2B5EF4-FFF2-40B4-BE49-F238E27FC236}">
                <a16:creationId xmlns:a16="http://schemas.microsoft.com/office/drawing/2014/main" id="{3DF10F92-52B0-6F28-1B72-41BB5024F582}"/>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dirty="0"/>
          </a:p>
        </p:txBody>
      </p:sp>
      <p:sp>
        <p:nvSpPr>
          <p:cNvPr id="108" name="Google Shape;108;p4:notes">
            <a:extLst>
              <a:ext uri="{FF2B5EF4-FFF2-40B4-BE49-F238E27FC236}">
                <a16:creationId xmlns:a16="http://schemas.microsoft.com/office/drawing/2014/main" id="{AFFC7203-9DA5-7222-FB5A-785B7F6F09A9}"/>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IN"/>
          </a:p>
        </p:txBody>
      </p:sp>
    </p:spTree>
    <p:extLst>
      <p:ext uri="{BB962C8B-B14F-4D97-AF65-F5344CB8AC3E}">
        <p14:creationId xmlns:p14="http://schemas.microsoft.com/office/powerpoint/2010/main" val="421095435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
          <a:extLst>
            <a:ext uri="{FF2B5EF4-FFF2-40B4-BE49-F238E27FC236}">
              <a16:creationId xmlns:a16="http://schemas.microsoft.com/office/drawing/2014/main" id="{EEC3A703-BC51-74DA-57BA-920708DCE4B6}"/>
            </a:ext>
          </a:extLst>
        </p:cNvPr>
        <p:cNvGrpSpPr/>
        <p:nvPr/>
      </p:nvGrpSpPr>
      <p:grpSpPr>
        <a:xfrm>
          <a:off x="0" y="0"/>
          <a:ext cx="0" cy="0"/>
          <a:chOff x="0" y="0"/>
          <a:chExt cx="0" cy="0"/>
        </a:xfrm>
      </p:grpSpPr>
      <p:sp>
        <p:nvSpPr>
          <p:cNvPr id="107" name="Google Shape;107;p4:notes">
            <a:extLst>
              <a:ext uri="{FF2B5EF4-FFF2-40B4-BE49-F238E27FC236}">
                <a16:creationId xmlns:a16="http://schemas.microsoft.com/office/drawing/2014/main" id="{3FE10048-EBD2-7589-3856-5CCA251A9EC1}"/>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8" name="Google Shape;108;p4:notes">
            <a:extLst>
              <a:ext uri="{FF2B5EF4-FFF2-40B4-BE49-F238E27FC236}">
                <a16:creationId xmlns:a16="http://schemas.microsoft.com/office/drawing/2014/main" id="{7F1744BC-D0D8-6DA4-0137-79A0713B7055}"/>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IN"/>
          </a:p>
        </p:txBody>
      </p:sp>
    </p:spTree>
    <p:extLst>
      <p:ext uri="{BB962C8B-B14F-4D97-AF65-F5344CB8AC3E}">
        <p14:creationId xmlns:p14="http://schemas.microsoft.com/office/powerpoint/2010/main" val="401359852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
          <a:extLst>
            <a:ext uri="{FF2B5EF4-FFF2-40B4-BE49-F238E27FC236}">
              <a16:creationId xmlns:a16="http://schemas.microsoft.com/office/drawing/2014/main" id="{9B45BBCE-2A68-DF31-3BF1-6A10C2C339D6}"/>
            </a:ext>
          </a:extLst>
        </p:cNvPr>
        <p:cNvGrpSpPr/>
        <p:nvPr/>
      </p:nvGrpSpPr>
      <p:grpSpPr>
        <a:xfrm>
          <a:off x="0" y="0"/>
          <a:ext cx="0" cy="0"/>
          <a:chOff x="0" y="0"/>
          <a:chExt cx="0" cy="0"/>
        </a:xfrm>
      </p:grpSpPr>
      <p:sp>
        <p:nvSpPr>
          <p:cNvPr id="107" name="Google Shape;107;p4:notes">
            <a:extLst>
              <a:ext uri="{FF2B5EF4-FFF2-40B4-BE49-F238E27FC236}">
                <a16:creationId xmlns:a16="http://schemas.microsoft.com/office/drawing/2014/main" id="{5B262CC4-FC0E-AEA8-14BE-5F9A69A1114B}"/>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8" name="Google Shape;108;p4:notes">
            <a:extLst>
              <a:ext uri="{FF2B5EF4-FFF2-40B4-BE49-F238E27FC236}">
                <a16:creationId xmlns:a16="http://schemas.microsoft.com/office/drawing/2014/main" id="{AF325201-F5F7-B39B-C1AD-30D470437AA9}"/>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IN"/>
          </a:p>
        </p:txBody>
      </p:sp>
    </p:spTree>
    <p:extLst>
      <p:ext uri="{BB962C8B-B14F-4D97-AF65-F5344CB8AC3E}">
        <p14:creationId xmlns:p14="http://schemas.microsoft.com/office/powerpoint/2010/main" val="343360285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
          <a:extLst>
            <a:ext uri="{FF2B5EF4-FFF2-40B4-BE49-F238E27FC236}">
              <a16:creationId xmlns:a16="http://schemas.microsoft.com/office/drawing/2014/main" id="{E9E2BF0C-0547-6B7F-F2BF-F4B2C5B89723}"/>
            </a:ext>
          </a:extLst>
        </p:cNvPr>
        <p:cNvGrpSpPr/>
        <p:nvPr/>
      </p:nvGrpSpPr>
      <p:grpSpPr>
        <a:xfrm>
          <a:off x="0" y="0"/>
          <a:ext cx="0" cy="0"/>
          <a:chOff x="0" y="0"/>
          <a:chExt cx="0" cy="0"/>
        </a:xfrm>
      </p:grpSpPr>
      <p:sp>
        <p:nvSpPr>
          <p:cNvPr id="107" name="Google Shape;107;p4:notes">
            <a:extLst>
              <a:ext uri="{FF2B5EF4-FFF2-40B4-BE49-F238E27FC236}">
                <a16:creationId xmlns:a16="http://schemas.microsoft.com/office/drawing/2014/main" id="{E17C1435-D4DC-11B6-8327-47415D937AF0}"/>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8" name="Google Shape;108;p4:notes">
            <a:extLst>
              <a:ext uri="{FF2B5EF4-FFF2-40B4-BE49-F238E27FC236}">
                <a16:creationId xmlns:a16="http://schemas.microsoft.com/office/drawing/2014/main" id="{EACC93B6-71CB-8668-8F98-D14F0CF5BBBD}"/>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IN"/>
          </a:p>
        </p:txBody>
      </p:sp>
    </p:spTree>
    <p:extLst>
      <p:ext uri="{BB962C8B-B14F-4D97-AF65-F5344CB8AC3E}">
        <p14:creationId xmlns:p14="http://schemas.microsoft.com/office/powerpoint/2010/main" val="141708292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
          <a:extLst>
            <a:ext uri="{FF2B5EF4-FFF2-40B4-BE49-F238E27FC236}">
              <a16:creationId xmlns:a16="http://schemas.microsoft.com/office/drawing/2014/main" id="{2A0D0088-A510-9235-E01C-54271E79CFCD}"/>
            </a:ext>
          </a:extLst>
        </p:cNvPr>
        <p:cNvGrpSpPr/>
        <p:nvPr/>
      </p:nvGrpSpPr>
      <p:grpSpPr>
        <a:xfrm>
          <a:off x="0" y="0"/>
          <a:ext cx="0" cy="0"/>
          <a:chOff x="0" y="0"/>
          <a:chExt cx="0" cy="0"/>
        </a:xfrm>
      </p:grpSpPr>
      <p:sp>
        <p:nvSpPr>
          <p:cNvPr id="107" name="Google Shape;107;p4:notes">
            <a:extLst>
              <a:ext uri="{FF2B5EF4-FFF2-40B4-BE49-F238E27FC236}">
                <a16:creationId xmlns:a16="http://schemas.microsoft.com/office/drawing/2014/main" id="{9DCE0FAE-016B-6C8D-050A-84CA99D9A9F1}"/>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8" name="Google Shape;108;p4:notes">
            <a:extLst>
              <a:ext uri="{FF2B5EF4-FFF2-40B4-BE49-F238E27FC236}">
                <a16:creationId xmlns:a16="http://schemas.microsoft.com/office/drawing/2014/main" id="{A4F078E8-B3DE-8146-23F7-4DDD61F0F319}"/>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IN"/>
          </a:p>
        </p:txBody>
      </p:sp>
    </p:spTree>
    <p:extLst>
      <p:ext uri="{BB962C8B-B14F-4D97-AF65-F5344CB8AC3E}">
        <p14:creationId xmlns:p14="http://schemas.microsoft.com/office/powerpoint/2010/main" val="389785649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
          <a:extLst>
            <a:ext uri="{FF2B5EF4-FFF2-40B4-BE49-F238E27FC236}">
              <a16:creationId xmlns:a16="http://schemas.microsoft.com/office/drawing/2014/main" id="{AB3B964A-D3B6-ABC2-1AB9-4A431D3D0C21}"/>
            </a:ext>
          </a:extLst>
        </p:cNvPr>
        <p:cNvGrpSpPr/>
        <p:nvPr/>
      </p:nvGrpSpPr>
      <p:grpSpPr>
        <a:xfrm>
          <a:off x="0" y="0"/>
          <a:ext cx="0" cy="0"/>
          <a:chOff x="0" y="0"/>
          <a:chExt cx="0" cy="0"/>
        </a:xfrm>
      </p:grpSpPr>
      <p:sp>
        <p:nvSpPr>
          <p:cNvPr id="107" name="Google Shape;107;p4:notes">
            <a:extLst>
              <a:ext uri="{FF2B5EF4-FFF2-40B4-BE49-F238E27FC236}">
                <a16:creationId xmlns:a16="http://schemas.microsoft.com/office/drawing/2014/main" id="{C9E2C805-D810-8799-1D96-3D5AD4429260}"/>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8" name="Google Shape;108;p4:notes">
            <a:extLst>
              <a:ext uri="{FF2B5EF4-FFF2-40B4-BE49-F238E27FC236}">
                <a16:creationId xmlns:a16="http://schemas.microsoft.com/office/drawing/2014/main" id="{21517E9E-F900-D4C6-0B4A-72F15A4187DA}"/>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IN"/>
          </a:p>
        </p:txBody>
      </p:sp>
    </p:spTree>
    <p:extLst>
      <p:ext uri="{BB962C8B-B14F-4D97-AF65-F5344CB8AC3E}">
        <p14:creationId xmlns:p14="http://schemas.microsoft.com/office/powerpoint/2010/main" val="276930130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
          <a:extLst>
            <a:ext uri="{FF2B5EF4-FFF2-40B4-BE49-F238E27FC236}">
              <a16:creationId xmlns:a16="http://schemas.microsoft.com/office/drawing/2014/main" id="{01E888BD-7ADE-FEC1-1187-45E8F65D8560}"/>
            </a:ext>
          </a:extLst>
        </p:cNvPr>
        <p:cNvGrpSpPr/>
        <p:nvPr/>
      </p:nvGrpSpPr>
      <p:grpSpPr>
        <a:xfrm>
          <a:off x="0" y="0"/>
          <a:ext cx="0" cy="0"/>
          <a:chOff x="0" y="0"/>
          <a:chExt cx="0" cy="0"/>
        </a:xfrm>
      </p:grpSpPr>
      <p:sp>
        <p:nvSpPr>
          <p:cNvPr id="107" name="Google Shape;107;p4:notes">
            <a:extLst>
              <a:ext uri="{FF2B5EF4-FFF2-40B4-BE49-F238E27FC236}">
                <a16:creationId xmlns:a16="http://schemas.microsoft.com/office/drawing/2014/main" id="{88B5C0EA-DED5-DFDF-A3E7-D338E68237D9}"/>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8" name="Google Shape;108;p4:notes">
            <a:extLst>
              <a:ext uri="{FF2B5EF4-FFF2-40B4-BE49-F238E27FC236}">
                <a16:creationId xmlns:a16="http://schemas.microsoft.com/office/drawing/2014/main" id="{A36FD2EB-9A6D-1353-273E-1F3070AAE9D8}"/>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IN"/>
          </a:p>
        </p:txBody>
      </p:sp>
    </p:spTree>
    <p:extLst>
      <p:ext uri="{BB962C8B-B14F-4D97-AF65-F5344CB8AC3E}">
        <p14:creationId xmlns:p14="http://schemas.microsoft.com/office/powerpoint/2010/main" val="346538056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
          <a:extLst>
            <a:ext uri="{FF2B5EF4-FFF2-40B4-BE49-F238E27FC236}">
              <a16:creationId xmlns:a16="http://schemas.microsoft.com/office/drawing/2014/main" id="{DFD2179A-017A-09B8-1774-CB950FC87028}"/>
            </a:ext>
          </a:extLst>
        </p:cNvPr>
        <p:cNvGrpSpPr/>
        <p:nvPr/>
      </p:nvGrpSpPr>
      <p:grpSpPr>
        <a:xfrm>
          <a:off x="0" y="0"/>
          <a:ext cx="0" cy="0"/>
          <a:chOff x="0" y="0"/>
          <a:chExt cx="0" cy="0"/>
        </a:xfrm>
      </p:grpSpPr>
      <p:sp>
        <p:nvSpPr>
          <p:cNvPr id="107" name="Google Shape;107;p4:notes">
            <a:extLst>
              <a:ext uri="{FF2B5EF4-FFF2-40B4-BE49-F238E27FC236}">
                <a16:creationId xmlns:a16="http://schemas.microsoft.com/office/drawing/2014/main" id="{A74D6751-5107-0ACE-39BD-02D8A4A5793E}"/>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8" name="Google Shape;108;p4:notes">
            <a:extLst>
              <a:ext uri="{FF2B5EF4-FFF2-40B4-BE49-F238E27FC236}">
                <a16:creationId xmlns:a16="http://schemas.microsoft.com/office/drawing/2014/main" id="{39150F3D-BC36-B253-9F2C-6020B5C19C5A}"/>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IN"/>
          </a:p>
        </p:txBody>
      </p:sp>
    </p:spTree>
    <p:extLst>
      <p:ext uri="{BB962C8B-B14F-4D97-AF65-F5344CB8AC3E}">
        <p14:creationId xmlns:p14="http://schemas.microsoft.com/office/powerpoint/2010/main" val="223640999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
          <a:extLst>
            <a:ext uri="{FF2B5EF4-FFF2-40B4-BE49-F238E27FC236}">
              <a16:creationId xmlns:a16="http://schemas.microsoft.com/office/drawing/2014/main" id="{A6030E41-08F6-80A1-7C58-E2C56A4A1AB9}"/>
            </a:ext>
          </a:extLst>
        </p:cNvPr>
        <p:cNvGrpSpPr/>
        <p:nvPr/>
      </p:nvGrpSpPr>
      <p:grpSpPr>
        <a:xfrm>
          <a:off x="0" y="0"/>
          <a:ext cx="0" cy="0"/>
          <a:chOff x="0" y="0"/>
          <a:chExt cx="0" cy="0"/>
        </a:xfrm>
      </p:grpSpPr>
      <p:sp>
        <p:nvSpPr>
          <p:cNvPr id="107" name="Google Shape;107;p4:notes">
            <a:extLst>
              <a:ext uri="{FF2B5EF4-FFF2-40B4-BE49-F238E27FC236}">
                <a16:creationId xmlns:a16="http://schemas.microsoft.com/office/drawing/2014/main" id="{D78B809C-2C84-B400-EA27-4DBA29E18A26}"/>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8" name="Google Shape;108;p4:notes">
            <a:extLst>
              <a:ext uri="{FF2B5EF4-FFF2-40B4-BE49-F238E27FC236}">
                <a16:creationId xmlns:a16="http://schemas.microsoft.com/office/drawing/2014/main" id="{65BD419F-C03D-F52C-B0C0-13EB3DAFFF50}"/>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IN"/>
          </a:p>
        </p:txBody>
      </p:sp>
    </p:spTree>
    <p:extLst>
      <p:ext uri="{BB962C8B-B14F-4D97-AF65-F5344CB8AC3E}">
        <p14:creationId xmlns:p14="http://schemas.microsoft.com/office/powerpoint/2010/main" val="290626160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
          <a:extLst>
            <a:ext uri="{FF2B5EF4-FFF2-40B4-BE49-F238E27FC236}">
              <a16:creationId xmlns:a16="http://schemas.microsoft.com/office/drawing/2014/main" id="{030F1330-3DCE-49DB-F52C-D96AF7CA27AF}"/>
            </a:ext>
          </a:extLst>
        </p:cNvPr>
        <p:cNvGrpSpPr/>
        <p:nvPr/>
      </p:nvGrpSpPr>
      <p:grpSpPr>
        <a:xfrm>
          <a:off x="0" y="0"/>
          <a:ext cx="0" cy="0"/>
          <a:chOff x="0" y="0"/>
          <a:chExt cx="0" cy="0"/>
        </a:xfrm>
      </p:grpSpPr>
      <p:sp>
        <p:nvSpPr>
          <p:cNvPr id="107" name="Google Shape;107;p4:notes">
            <a:extLst>
              <a:ext uri="{FF2B5EF4-FFF2-40B4-BE49-F238E27FC236}">
                <a16:creationId xmlns:a16="http://schemas.microsoft.com/office/drawing/2014/main" id="{3F7073E4-D165-97C7-A037-681D7D4B5AB6}"/>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8" name="Google Shape;108;p4:notes">
            <a:extLst>
              <a:ext uri="{FF2B5EF4-FFF2-40B4-BE49-F238E27FC236}">
                <a16:creationId xmlns:a16="http://schemas.microsoft.com/office/drawing/2014/main" id="{92C801A3-BC9C-14AA-D111-3CE98B989F4A}"/>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IN"/>
          </a:p>
        </p:txBody>
      </p:sp>
    </p:spTree>
    <p:extLst>
      <p:ext uri="{BB962C8B-B14F-4D97-AF65-F5344CB8AC3E}">
        <p14:creationId xmlns:p14="http://schemas.microsoft.com/office/powerpoint/2010/main" val="48451592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
        <p:cNvGrpSpPr/>
        <p:nvPr/>
      </p:nvGrpSpPr>
      <p:grpSpPr>
        <a:xfrm>
          <a:off x="0" y="0"/>
          <a:ext cx="0" cy="0"/>
          <a:chOff x="0" y="0"/>
          <a:chExt cx="0" cy="0"/>
        </a:xfrm>
      </p:grpSpPr>
      <p:sp>
        <p:nvSpPr>
          <p:cNvPr id="113" name="Google Shape;113;p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200"/>
              <a:buFont typeface="Calibri"/>
              <a:buNone/>
            </a:pPr>
            <a:endParaRPr/>
          </a:p>
        </p:txBody>
      </p:sp>
      <p:sp>
        <p:nvSpPr>
          <p:cNvPr id="114" name="Google Shape;114;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IN"/>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15"/>
        <p:cNvGrpSpPr/>
        <p:nvPr/>
      </p:nvGrpSpPr>
      <p:grpSpPr>
        <a:xfrm>
          <a:off x="0" y="0"/>
          <a:ext cx="0" cy="0"/>
          <a:chOff x="0" y="0"/>
          <a:chExt cx="0" cy="0"/>
        </a:xfrm>
      </p:grpSpPr>
      <p:sp>
        <p:nvSpPr>
          <p:cNvPr id="16" name="Google Shape;16;p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7" name="Google Shape;17;p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8" name="Google Shape;18;p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9" name="Google Shape;19;p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20" name="Google Shape;20;p7"/>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21"/>
        <p:cNvGrpSpPr/>
        <p:nvPr/>
      </p:nvGrpSpPr>
      <p:grpSpPr>
        <a:xfrm>
          <a:off x="0" y="0"/>
          <a:ext cx="0" cy="0"/>
          <a:chOff x="0" y="0"/>
          <a:chExt cx="0" cy="0"/>
        </a:xfrm>
      </p:grpSpPr>
      <p:sp>
        <p:nvSpPr>
          <p:cNvPr id="22" name="Google Shape;22;p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3" name="Google Shape;23;p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4" name="Google Shape;24;p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25" name="Google Shape;25;p9"/>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6"/>
        <p:cNvGrpSpPr/>
        <p:nvPr/>
      </p:nvGrpSpPr>
      <p:grpSpPr>
        <a:xfrm>
          <a:off x="0" y="0"/>
          <a:ext cx="0" cy="0"/>
          <a:chOff x="0" y="0"/>
          <a:chExt cx="0" cy="0"/>
        </a:xfrm>
      </p:grpSpPr>
      <p:sp>
        <p:nvSpPr>
          <p:cNvPr id="27" name="Google Shape;27;p10"/>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8" name="Google Shape;28;p10"/>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9" name="Google Shape;29;p1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0" name="Google Shape;30;p1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1" name="Google Shape;31;p1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32" name="Google Shape;32;p10"/>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33"/>
        <p:cNvGrpSpPr/>
        <p:nvPr/>
      </p:nvGrpSpPr>
      <p:grpSpPr>
        <a:xfrm>
          <a:off x="0" y="0"/>
          <a:ext cx="0" cy="0"/>
          <a:chOff x="0" y="0"/>
          <a:chExt cx="0" cy="0"/>
        </a:xfrm>
      </p:grpSpPr>
      <p:sp>
        <p:nvSpPr>
          <p:cNvPr id="34" name="Google Shape;34;p8"/>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5" name="Google Shape;35;p8"/>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36" name="Google Shape;36;p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7" name="Google Shape;37;p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8" name="Google Shape;38;p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39" name="Google Shape;39;p8"/>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40"/>
        <p:cNvGrpSpPr/>
        <p:nvPr/>
      </p:nvGrpSpPr>
      <p:grpSpPr>
        <a:xfrm>
          <a:off x="0" y="0"/>
          <a:ext cx="0" cy="0"/>
          <a:chOff x="0" y="0"/>
          <a:chExt cx="0" cy="0"/>
        </a:xfrm>
      </p:grpSpPr>
      <p:sp>
        <p:nvSpPr>
          <p:cNvPr id="41" name="Google Shape;41;p11"/>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2" name="Google Shape;42;p11"/>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43" name="Google Shape;43;p1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4" name="Google Shape;44;p1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5" name="Google Shape;45;p1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46" name="Google Shape;46;p11"/>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47"/>
        <p:cNvGrpSpPr/>
        <p:nvPr/>
      </p:nvGrpSpPr>
      <p:grpSpPr>
        <a:xfrm>
          <a:off x="0" y="0"/>
          <a:ext cx="0" cy="0"/>
          <a:chOff x="0" y="0"/>
          <a:chExt cx="0" cy="0"/>
        </a:xfrm>
      </p:grpSpPr>
      <p:sp>
        <p:nvSpPr>
          <p:cNvPr id="48" name="Google Shape;48;p12"/>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9" name="Google Shape;49;p12"/>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0" name="Google Shape;50;p12"/>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1" name="Google Shape;51;p1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2" name="Google Shape;52;p1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3" name="Google Shape;53;p1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54" name="Google Shape;54;p12"/>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55"/>
        <p:cNvGrpSpPr/>
        <p:nvPr/>
      </p:nvGrpSpPr>
      <p:grpSpPr>
        <a:xfrm>
          <a:off x="0" y="0"/>
          <a:ext cx="0" cy="0"/>
          <a:chOff x="0" y="0"/>
          <a:chExt cx="0" cy="0"/>
        </a:xfrm>
      </p:grpSpPr>
      <p:sp>
        <p:nvSpPr>
          <p:cNvPr id="56" name="Google Shape;56;p13"/>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7" name="Google Shape;57;p13"/>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58" name="Google Shape;58;p13"/>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9" name="Google Shape;59;p13"/>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60" name="Google Shape;60;p13"/>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61" name="Google Shape;61;p1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2" name="Google Shape;62;p1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3" name="Google Shape;63;p1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64" name="Google Shape;64;p13"/>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65"/>
        <p:cNvGrpSpPr/>
        <p:nvPr/>
      </p:nvGrpSpPr>
      <p:grpSpPr>
        <a:xfrm>
          <a:off x="0" y="0"/>
          <a:ext cx="0" cy="0"/>
          <a:chOff x="0" y="0"/>
          <a:chExt cx="0" cy="0"/>
        </a:xfrm>
      </p:grpSpPr>
      <p:sp>
        <p:nvSpPr>
          <p:cNvPr id="66" name="Google Shape;66;p14"/>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7" name="Google Shape;67;p14"/>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68" name="Google Shape;68;p14"/>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9" name="Google Shape;69;p1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0" name="Google Shape;70;p1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1" name="Google Shape;71;p1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72" name="Google Shape;72;p14"/>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73"/>
        <p:cNvGrpSpPr/>
        <p:nvPr/>
      </p:nvGrpSpPr>
      <p:grpSpPr>
        <a:xfrm>
          <a:off x="0" y="0"/>
          <a:ext cx="0" cy="0"/>
          <a:chOff x="0" y="0"/>
          <a:chExt cx="0" cy="0"/>
        </a:xfrm>
      </p:grpSpPr>
      <p:sp>
        <p:nvSpPr>
          <p:cNvPr id="74" name="Google Shape;74;p15"/>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5" name="Google Shape;75;p15"/>
          <p:cNvSpPr>
            <a:spLocks noGrp="1"/>
          </p:cNvSpPr>
          <p:nvPr>
            <p:ph type="pic" idx="2"/>
          </p:nvPr>
        </p:nvSpPr>
        <p:spPr>
          <a:xfrm>
            <a:off x="5183188" y="987425"/>
            <a:ext cx="6172200" cy="4873625"/>
          </a:xfrm>
          <a:prstGeom prst="rect">
            <a:avLst/>
          </a:prstGeom>
          <a:noFill/>
          <a:ln>
            <a:noFill/>
          </a:ln>
        </p:spPr>
        <p:txBody>
          <a:bodyPr/>
          <a:lstStyle/>
          <a:p>
            <a:endParaRPr lang="en-IN"/>
          </a:p>
        </p:txBody>
      </p:sp>
      <p:sp>
        <p:nvSpPr>
          <p:cNvPr id="76" name="Google Shape;76;p15"/>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77" name="Google Shape;77;p1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8" name="Google Shape;78;p1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9" name="Google Shape;79;p1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80" name="Google Shape;80;p15"/>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81"/>
        <p:cNvGrpSpPr/>
        <p:nvPr/>
      </p:nvGrpSpPr>
      <p:grpSpPr>
        <a:xfrm>
          <a:off x="0" y="0"/>
          <a:ext cx="0" cy="0"/>
          <a:chOff x="0" y="0"/>
          <a:chExt cx="0" cy="0"/>
        </a:xfrm>
      </p:grpSpPr>
      <p:sp>
        <p:nvSpPr>
          <p:cNvPr id="82" name="Google Shape;82;p1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3" name="Google Shape;83;p16"/>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4" name="Google Shape;84;p1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5" name="Google Shape;85;p1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6" name="Google Shape;86;p1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87" name="Google Shape;87;p16"/>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88"/>
        <p:cNvGrpSpPr/>
        <p:nvPr/>
      </p:nvGrpSpPr>
      <p:grpSpPr>
        <a:xfrm>
          <a:off x="0" y="0"/>
          <a:ext cx="0" cy="0"/>
          <a:chOff x="0" y="0"/>
          <a:chExt cx="0" cy="0"/>
        </a:xfrm>
      </p:grpSpPr>
      <p:sp>
        <p:nvSpPr>
          <p:cNvPr id="89" name="Google Shape;89;p17"/>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0" name="Google Shape;90;p17"/>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91" name="Google Shape;91;p1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2" name="Google Shape;92;p1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3" name="Google Shape;93;p1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Shape 9"/>
        <p:cNvGrpSpPr/>
        <p:nvPr/>
      </p:nvGrpSpPr>
      <p:grpSpPr>
        <a:xfrm>
          <a:off x="0" y="0"/>
          <a:ext cx="0" cy="0"/>
          <a:chOff x="0" y="0"/>
          <a:chExt cx="0" cy="0"/>
        </a:xfrm>
      </p:grpSpPr>
      <p:sp>
        <p:nvSpPr>
          <p:cNvPr id="10" name="Google Shape;10;p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6"/>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2" name="Google Shape;12;p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8" Type="http://schemas.openxmlformats.org/officeDocument/2006/relationships/image" Target="../media/image4.png"/><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3.xml"/><Relationship Id="rId1" Type="http://schemas.openxmlformats.org/officeDocument/2006/relationships/slideLayout" Target="../slideLayouts/slideLayout3.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3.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5.xml"/><Relationship Id="rId1" Type="http://schemas.openxmlformats.org/officeDocument/2006/relationships/slideLayout" Target="../slideLayouts/slideLayout3.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png"/></Relationships>
</file>

<file path=ppt/slides/_rels/slide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6.xml"/><Relationship Id="rId1" Type="http://schemas.openxmlformats.org/officeDocument/2006/relationships/slideLayout" Target="../slideLayouts/slideLayout3.xml"/><Relationship Id="rId5" Type="http://schemas.openxmlformats.org/officeDocument/2006/relationships/image" Target="../media/image16.png"/><Relationship Id="rId4" Type="http://schemas.openxmlformats.org/officeDocument/2006/relationships/image" Target="../media/image15.png"/></Relationships>
</file>

<file path=ppt/slides/_rels/slide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7.xml"/><Relationship Id="rId1" Type="http://schemas.openxmlformats.org/officeDocument/2006/relationships/slideLayout" Target="../slideLayouts/slideLayout3.xml"/><Relationship Id="rId4" Type="http://schemas.openxmlformats.org/officeDocument/2006/relationships/image" Target="../media/image4.png"/></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9.xml"/><Relationship Id="rId1" Type="http://schemas.openxmlformats.org/officeDocument/2006/relationships/slideLayout" Target="../slideLayouts/slideLayout3.xml"/><Relationship Id="rId4" Type="http://schemas.openxmlformats.org/officeDocument/2006/relationships/image" Target="../media/image19.png"/></Relationships>
</file>

<file path=ppt/slides/_rels/slide12.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image" Target="../media/image20.jpeg"/><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0.xml"/><Relationship Id="rId1" Type="http://schemas.openxmlformats.org/officeDocument/2006/relationships/slideLayout" Target="../slideLayouts/slideLayout3.xml"/><Relationship Id="rId4" Type="http://schemas.openxmlformats.org/officeDocument/2006/relationships/image" Target="../media/image23.png"/></Relationships>
</file>

<file path=ppt/slides/_rels/slide14.xml.rels><?xml version="1.0" encoding="UTF-8" standalone="yes"?>
<Relationships xmlns="http://schemas.openxmlformats.org/package/2006/relationships"><Relationship Id="rId3" Type="http://schemas.openxmlformats.org/officeDocument/2006/relationships/image" Target="../media/image25.jpeg"/><Relationship Id="rId2" Type="http://schemas.openxmlformats.org/officeDocument/2006/relationships/image" Target="../media/image24.jpeg"/><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1.xml"/><Relationship Id="rId1" Type="http://schemas.openxmlformats.org/officeDocument/2006/relationships/slideLayout" Target="../slideLayouts/slideLayout3.xml"/><Relationship Id="rId4" Type="http://schemas.openxmlformats.org/officeDocument/2006/relationships/image" Target="../media/image27.png"/></Relationships>
</file>

<file path=ppt/slides/_rels/slide16.xml.rels><?xml version="1.0" encoding="UTF-8" standalone="yes"?>
<Relationships xmlns="http://schemas.openxmlformats.org/package/2006/relationships"><Relationship Id="rId3" Type="http://schemas.openxmlformats.org/officeDocument/2006/relationships/image" Target="../media/image29.jpeg"/><Relationship Id="rId2" Type="http://schemas.openxmlformats.org/officeDocument/2006/relationships/image" Target="../media/image28.jpeg"/><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12.xml"/><Relationship Id="rId1" Type="http://schemas.openxmlformats.org/officeDocument/2006/relationships/slideLayout" Target="../slideLayouts/slideLayout3.xml"/><Relationship Id="rId4" Type="http://schemas.openxmlformats.org/officeDocument/2006/relationships/image" Target="../media/image31.png"/></Relationships>
</file>

<file path=ppt/slides/_rels/slide18.xml.rels><?xml version="1.0" encoding="UTF-8" standalone="yes"?>
<Relationships xmlns="http://schemas.openxmlformats.org/package/2006/relationships"><Relationship Id="rId3" Type="http://schemas.openxmlformats.org/officeDocument/2006/relationships/image" Target="../media/image33.jpeg"/><Relationship Id="rId2" Type="http://schemas.openxmlformats.org/officeDocument/2006/relationships/image" Target="../media/image32.jpeg"/><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13.xml"/><Relationship Id="rId1" Type="http://schemas.openxmlformats.org/officeDocument/2006/relationships/slideLayout" Target="../slideLayouts/slideLayout3.xml"/><Relationship Id="rId4" Type="http://schemas.openxmlformats.org/officeDocument/2006/relationships/image" Target="../media/image35.png"/></Relationships>
</file>

<file path=ppt/slides/_rels/slide20.xml.rels><?xml version="1.0" encoding="UTF-8" standalone="yes"?>
<Relationships xmlns="http://schemas.openxmlformats.org/package/2006/relationships"><Relationship Id="rId3" Type="http://schemas.openxmlformats.org/officeDocument/2006/relationships/image" Target="../media/image37.jpeg"/><Relationship Id="rId2" Type="http://schemas.openxmlformats.org/officeDocument/2006/relationships/image" Target="../media/image36.jpeg"/><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14.xml"/><Relationship Id="rId1" Type="http://schemas.openxmlformats.org/officeDocument/2006/relationships/slideLayout" Target="../slideLayouts/slideLayout3.xml"/><Relationship Id="rId4" Type="http://schemas.openxmlformats.org/officeDocument/2006/relationships/image" Target="../media/image39.png"/></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97"/>
        <p:cNvGrpSpPr/>
        <p:nvPr/>
      </p:nvGrpSpPr>
      <p:grpSpPr>
        <a:xfrm>
          <a:off x="0" y="0"/>
          <a:ext cx="0" cy="0"/>
          <a:chOff x="0" y="0"/>
          <a:chExt cx="0" cy="0"/>
        </a:xfrm>
      </p:grpSpPr>
      <p:pic>
        <p:nvPicPr>
          <p:cNvPr id="98" name="Google Shape;98;p1"/>
          <p:cNvPicPr preferRelativeResize="0"/>
          <p:nvPr/>
        </p:nvPicPr>
        <p:blipFill rotWithShape="1">
          <a:blip r:embed="rId3">
            <a:alphaModFix/>
          </a:blip>
          <a:srcRect/>
          <a:stretch/>
        </p:blipFill>
        <p:spPr>
          <a:xfrm>
            <a:off x="592" y="0"/>
            <a:ext cx="12190815" cy="6819828"/>
          </a:xfrm>
          <a:prstGeom prst="rect">
            <a:avLst/>
          </a:prstGeom>
          <a:noFill/>
          <a:ln>
            <a:noFill/>
          </a:ln>
        </p:spPr>
      </p:pic>
      <p:sp>
        <p:nvSpPr>
          <p:cNvPr id="2" name="Google Shape;99;p1">
            <a:extLst>
              <a:ext uri="{FF2B5EF4-FFF2-40B4-BE49-F238E27FC236}">
                <a16:creationId xmlns:a16="http://schemas.microsoft.com/office/drawing/2014/main" id="{ADE6AA4B-9528-CDF7-9ED3-5CD50D1FDD66}"/>
              </a:ext>
            </a:extLst>
          </p:cNvPr>
          <p:cNvSpPr txBox="1"/>
          <p:nvPr/>
        </p:nvSpPr>
        <p:spPr>
          <a:xfrm>
            <a:off x="4775831" y="4277242"/>
            <a:ext cx="2640333" cy="461624"/>
          </a:xfrm>
          <a:prstGeom prst="rect">
            <a:avLst/>
          </a:prstGeom>
          <a:noFill/>
          <a:ln>
            <a:noFill/>
          </a:ln>
        </p:spPr>
        <p:txBody>
          <a:bodyPr spcFirstLastPara="1" wrap="square" lIns="91425" tIns="45700" rIns="91425" bIns="45700" anchor="t" anchorCtr="0">
            <a:spAutoFit/>
          </a:bodyPr>
          <a:lstStyle/>
          <a:p>
            <a:pPr algn="ctr">
              <a:buSzPts val="1800"/>
            </a:pPr>
            <a:r>
              <a:rPr lang="en-US" sz="2400" b="1">
                <a:solidFill>
                  <a:srgbClr val="FF0000"/>
                </a:solidFill>
                <a:latin typeface="Times New Roman"/>
                <a:cs typeface="Times New Roman"/>
              </a:rPr>
              <a:t>Presented by:</a:t>
            </a:r>
            <a:endParaRPr sz="2400" b="1" i="0" u="none" strike="noStrike" cap="none" dirty="0">
              <a:solidFill>
                <a:srgbClr val="FF0000"/>
              </a:solidFill>
              <a:latin typeface="Times New Roman" panose="02020603050405020304" pitchFamily="18" charset="0"/>
              <a:cs typeface="Times New Roman" panose="02020603050405020304" pitchFamily="18" charset="0"/>
              <a:sym typeface="Arial"/>
            </a:endParaRPr>
          </a:p>
        </p:txBody>
      </p:sp>
      <p:sp>
        <p:nvSpPr>
          <p:cNvPr id="9" name="TextBox 8">
            <a:extLst>
              <a:ext uri="{FF2B5EF4-FFF2-40B4-BE49-F238E27FC236}">
                <a16:creationId xmlns:a16="http://schemas.microsoft.com/office/drawing/2014/main" id="{17B4883B-9FD8-3268-918E-BB29B2616D81}"/>
              </a:ext>
            </a:extLst>
          </p:cNvPr>
          <p:cNvSpPr txBox="1"/>
          <p:nvPr/>
        </p:nvSpPr>
        <p:spPr>
          <a:xfrm>
            <a:off x="4080510" y="4784992"/>
            <a:ext cx="4217670" cy="707886"/>
          </a:xfrm>
          <a:prstGeom prst="rect">
            <a:avLst/>
          </a:prstGeom>
          <a:noFill/>
        </p:spPr>
        <p:txBody>
          <a:bodyPr wrap="square" lIns="91440" tIns="45720" rIns="91440" bIns="45720" rtlCol="0" anchor="t">
            <a:spAutoFit/>
          </a:bodyPr>
          <a:lstStyle/>
          <a:p>
            <a:pPr algn="ctr"/>
            <a:r>
              <a:rPr lang="en-US" sz="2000" b="1" dirty="0">
                <a:latin typeface="Times New Roman"/>
                <a:cs typeface="Times New Roman"/>
              </a:rPr>
              <a:t>M. Amrutha Ravali</a:t>
            </a:r>
            <a:endParaRPr lang="en-US" sz="2000" b="1" dirty="0">
              <a:latin typeface="Times New Roman" panose="02020603050405020304" pitchFamily="18" charset="0"/>
              <a:cs typeface="Times New Roman" panose="02020603050405020304" pitchFamily="18" charset="0"/>
            </a:endParaRPr>
          </a:p>
          <a:p>
            <a:pPr algn="ctr"/>
            <a:endParaRPr lang="en-US" sz="2000" b="1" dirty="0">
              <a:latin typeface="Times New Roman"/>
              <a:cs typeface="Times New Roman"/>
            </a:endParaRPr>
          </a:p>
        </p:txBody>
      </p:sp>
      <p:sp>
        <p:nvSpPr>
          <p:cNvPr id="99" name="Google Shape;99;p1"/>
          <p:cNvSpPr txBox="1"/>
          <p:nvPr/>
        </p:nvSpPr>
        <p:spPr>
          <a:xfrm>
            <a:off x="640078" y="3569396"/>
            <a:ext cx="10911841" cy="707846"/>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en-US" sz="4000" b="1" i="0" u="none" strike="noStrike" cap="none" dirty="0">
                <a:solidFill>
                  <a:srgbClr val="002060"/>
                </a:solidFill>
                <a:latin typeface="Times New Roman" panose="02020603050405020304" pitchFamily="18" charset="0"/>
                <a:cs typeface="Times New Roman" panose="02020603050405020304" pitchFamily="18" charset="0"/>
                <a:sym typeface="Arial"/>
              </a:rPr>
              <a:t>MUSIC STORE DATA ANALYSIS USING SQL</a:t>
            </a:r>
            <a:endParaRPr sz="4000" b="1" i="0" u="none" strike="noStrike" cap="none" dirty="0">
              <a:solidFill>
                <a:srgbClr val="002060"/>
              </a:solidFill>
              <a:latin typeface="Times New Roman" panose="02020603050405020304" pitchFamily="18" charset="0"/>
              <a:cs typeface="Times New Roman" panose="02020603050405020304" pitchFamily="18" charset="0"/>
              <a:sym typeface="Arial"/>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C8BCB54C-1F6D-A924-3434-5183671EBD50}"/>
              </a:ext>
            </a:extLst>
          </p:cNvPr>
          <p:cNvSpPr txBox="1"/>
          <p:nvPr/>
        </p:nvSpPr>
        <p:spPr>
          <a:xfrm>
            <a:off x="392635" y="768410"/>
            <a:ext cx="6497778" cy="607679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457200" indent="-342900">
              <a:lnSpc>
                <a:spcPct val="90000"/>
              </a:lnSpc>
              <a:spcBef>
                <a:spcPts val="1000"/>
              </a:spcBef>
            </a:pPr>
            <a:endParaRPr lang="en-US" sz="2000" dirty="0">
              <a:latin typeface="Times New Roman"/>
              <a:cs typeface="Times New Roman"/>
            </a:endParaRPr>
          </a:p>
          <a:p>
            <a:pPr marL="457200" indent="-342900">
              <a:lnSpc>
                <a:spcPct val="90000"/>
              </a:lnSpc>
              <a:spcBef>
                <a:spcPts val="1000"/>
              </a:spcBef>
            </a:pPr>
            <a:r>
              <a:rPr lang="en-US" sz="2000">
                <a:latin typeface="Times New Roman"/>
                <a:cs typeface="Times New Roman"/>
              </a:rPr>
              <a:t>The digital music market produces an immense stream</a:t>
            </a:r>
            <a:endParaRPr lang="en-US" sz="2000" dirty="0">
              <a:latin typeface="Times New Roman"/>
              <a:cs typeface="Times New Roman"/>
            </a:endParaRPr>
          </a:p>
          <a:p>
            <a:pPr marL="457200" indent="-342900">
              <a:lnSpc>
                <a:spcPct val="90000"/>
              </a:lnSpc>
              <a:spcBef>
                <a:spcPts val="1000"/>
              </a:spcBef>
            </a:pPr>
            <a:r>
              <a:rPr lang="en-US" sz="2000">
                <a:latin typeface="Times New Roman"/>
                <a:cs typeface="Times New Roman"/>
              </a:rPr>
              <a:t>of</a:t>
            </a:r>
            <a:r>
              <a:rPr lang="en-US" sz="2000" dirty="0">
                <a:latin typeface="Times New Roman"/>
                <a:cs typeface="Times New Roman"/>
              </a:rPr>
              <a:t> customer interactions and sales records. Unlocking</a:t>
            </a:r>
          </a:p>
          <a:p>
            <a:pPr marL="457200" indent="-342900">
              <a:lnSpc>
                <a:spcPct val="90000"/>
              </a:lnSpc>
              <a:spcBef>
                <a:spcPts val="1000"/>
              </a:spcBef>
            </a:pPr>
            <a:r>
              <a:rPr lang="en-US" sz="2000">
                <a:latin typeface="Times New Roman"/>
                <a:cs typeface="Times New Roman"/>
              </a:rPr>
              <a:t>the value of this information requires careful analysis</a:t>
            </a:r>
            <a:endParaRPr lang="en-US" sz="2000" dirty="0">
              <a:latin typeface="Times New Roman"/>
              <a:cs typeface="Times New Roman"/>
            </a:endParaRPr>
          </a:p>
          <a:p>
            <a:pPr marL="457200" indent="-342900">
              <a:lnSpc>
                <a:spcPct val="90000"/>
              </a:lnSpc>
              <a:spcBef>
                <a:spcPts val="1000"/>
              </a:spcBef>
            </a:pPr>
            <a:r>
              <a:rPr lang="en-US" sz="2000">
                <a:latin typeface="Times New Roman"/>
                <a:cs typeface="Times New Roman"/>
              </a:rPr>
              <a:t>to reveal listening habits, trending genres, leading artists,</a:t>
            </a:r>
            <a:endParaRPr lang="en-US" sz="2000" dirty="0">
              <a:latin typeface="Times New Roman"/>
              <a:cs typeface="Times New Roman"/>
            </a:endParaRPr>
          </a:p>
          <a:p>
            <a:pPr marL="457200" indent="-342900">
              <a:lnSpc>
                <a:spcPct val="90000"/>
              </a:lnSpc>
              <a:spcBef>
                <a:spcPts val="1000"/>
              </a:spcBef>
            </a:pPr>
            <a:r>
              <a:rPr lang="en-US" sz="2000">
                <a:latin typeface="Times New Roman"/>
                <a:cs typeface="Times New Roman"/>
              </a:rPr>
              <a:t>and revenue drivers.</a:t>
            </a:r>
            <a:endParaRPr lang="en-US" sz="2000" dirty="0">
              <a:latin typeface="Times New Roman"/>
              <a:cs typeface="Times New Roman"/>
            </a:endParaRPr>
          </a:p>
          <a:p>
            <a:pPr marL="457200" indent="-342900">
              <a:lnSpc>
                <a:spcPct val="90000"/>
              </a:lnSpc>
              <a:spcBef>
                <a:spcPts val="1000"/>
              </a:spcBef>
            </a:pPr>
            <a:r>
              <a:rPr lang="en-US" sz="2000">
                <a:latin typeface="Times New Roman"/>
                <a:cs typeface="Times New Roman"/>
              </a:rPr>
              <a:t>This project focuses on exploring a music store database</a:t>
            </a:r>
            <a:endParaRPr lang="en-US" sz="2000" dirty="0">
              <a:latin typeface="Times New Roman"/>
              <a:cs typeface="Times New Roman"/>
            </a:endParaRPr>
          </a:p>
          <a:p>
            <a:pPr marL="457200" indent="-342900">
              <a:lnSpc>
                <a:spcPct val="90000"/>
              </a:lnSpc>
              <a:spcBef>
                <a:spcPts val="1000"/>
              </a:spcBef>
            </a:pPr>
            <a:r>
              <a:rPr lang="en-US" sz="2000">
                <a:latin typeface="Times New Roman"/>
                <a:cs typeface="Times New Roman"/>
              </a:rPr>
              <a:t>that captures details about customers, tracks, albums,</a:t>
            </a:r>
            <a:endParaRPr lang="en-US" sz="2000" dirty="0">
              <a:latin typeface="Times New Roman"/>
              <a:cs typeface="Times New Roman"/>
            </a:endParaRPr>
          </a:p>
          <a:p>
            <a:pPr marL="457200" indent="-342900">
              <a:lnSpc>
                <a:spcPct val="90000"/>
              </a:lnSpc>
              <a:spcBef>
                <a:spcPts val="1000"/>
              </a:spcBef>
            </a:pPr>
            <a:r>
              <a:rPr lang="en-US" sz="2000" dirty="0">
                <a:latin typeface="Times New Roman"/>
                <a:cs typeface="Times New Roman"/>
              </a:rPr>
              <a:t>artists, and purchase activity. By leveraging SQL queries,</a:t>
            </a:r>
          </a:p>
          <a:p>
            <a:pPr marL="457200" indent="-342900">
              <a:lnSpc>
                <a:spcPct val="90000"/>
              </a:lnSpc>
              <a:spcBef>
                <a:spcPts val="1000"/>
              </a:spcBef>
            </a:pPr>
            <a:r>
              <a:rPr lang="en-US" sz="2000">
                <a:latin typeface="Times New Roman"/>
                <a:cs typeface="Times New Roman"/>
              </a:rPr>
              <a:t>the raw data is transformed into clear insights—</a:t>
            </a:r>
            <a:endParaRPr lang="en-US" sz="2000" dirty="0">
              <a:latin typeface="Times New Roman"/>
              <a:cs typeface="Times New Roman"/>
            </a:endParaRPr>
          </a:p>
          <a:p>
            <a:pPr marL="457200" indent="-342900">
              <a:lnSpc>
                <a:spcPct val="90000"/>
              </a:lnSpc>
              <a:spcBef>
                <a:spcPts val="1000"/>
              </a:spcBef>
            </a:pPr>
            <a:r>
              <a:rPr lang="en-US" sz="2000" dirty="0">
                <a:latin typeface="Times New Roman"/>
                <a:cs typeface="Times New Roman"/>
              </a:rPr>
              <a:t>highlighting preferences, identifying profitable segments,</a:t>
            </a:r>
          </a:p>
          <a:p>
            <a:pPr marL="457200" indent="-342900">
              <a:lnSpc>
                <a:spcPct val="90000"/>
              </a:lnSpc>
              <a:spcBef>
                <a:spcPts val="1000"/>
              </a:spcBef>
            </a:pPr>
            <a:r>
              <a:rPr lang="en-US" sz="2000">
                <a:latin typeface="Times New Roman"/>
                <a:cs typeface="Times New Roman"/>
              </a:rPr>
              <a:t>and uncovering regional differences.</a:t>
            </a:r>
            <a:endParaRPr lang="en-US" sz="2000" dirty="0">
              <a:latin typeface="Times New Roman"/>
              <a:cs typeface="Times New Roman"/>
            </a:endParaRPr>
          </a:p>
          <a:p>
            <a:pPr marL="457200" indent="-342900">
              <a:lnSpc>
                <a:spcPct val="90000"/>
              </a:lnSpc>
              <a:spcBef>
                <a:spcPts val="1000"/>
              </a:spcBef>
            </a:pPr>
            <a:r>
              <a:rPr lang="en-US" sz="2000" dirty="0">
                <a:latin typeface="Times New Roman"/>
                <a:cs typeface="Times New Roman"/>
              </a:rPr>
              <a:t>The ultimate aim is to turn complex datasets into practical</a:t>
            </a:r>
          </a:p>
          <a:p>
            <a:pPr marL="457200" indent="-342900">
              <a:lnSpc>
                <a:spcPct val="90000"/>
              </a:lnSpc>
              <a:spcBef>
                <a:spcPts val="1000"/>
              </a:spcBef>
            </a:pPr>
            <a:r>
              <a:rPr lang="en-US" sz="2000">
                <a:latin typeface="Times New Roman"/>
                <a:cs typeface="Times New Roman"/>
              </a:rPr>
              <a:t>knowledge that supports smarter, evidence-based</a:t>
            </a:r>
            <a:endParaRPr lang="en-US" sz="2000" dirty="0">
              <a:latin typeface="Times New Roman"/>
              <a:cs typeface="Times New Roman"/>
            </a:endParaRPr>
          </a:p>
          <a:p>
            <a:pPr marL="457200" indent="-342900">
              <a:lnSpc>
                <a:spcPct val="90000"/>
              </a:lnSpc>
              <a:spcBef>
                <a:spcPts val="1000"/>
              </a:spcBef>
            </a:pPr>
            <a:r>
              <a:rPr lang="en-US" sz="2000">
                <a:latin typeface="Times New Roman"/>
                <a:cs typeface="Times New Roman"/>
              </a:rPr>
              <a:t>decisions in the music business.</a:t>
            </a:r>
            <a:endParaRPr lang="en-GB" sz="2000">
              <a:latin typeface="Times New Roman"/>
              <a:cs typeface="Times New Roman"/>
            </a:endParaRPr>
          </a:p>
        </p:txBody>
      </p:sp>
      <p:sp>
        <p:nvSpPr>
          <p:cNvPr id="3" name="TextBox 2">
            <a:extLst>
              <a:ext uri="{FF2B5EF4-FFF2-40B4-BE49-F238E27FC236}">
                <a16:creationId xmlns:a16="http://schemas.microsoft.com/office/drawing/2014/main" id="{65FB24A9-8507-2500-CBEF-98A6682D2901}"/>
              </a:ext>
            </a:extLst>
          </p:cNvPr>
          <p:cNvSpPr txBox="1"/>
          <p:nvPr/>
        </p:nvSpPr>
        <p:spPr>
          <a:xfrm>
            <a:off x="392205" y="222819"/>
            <a:ext cx="3766782" cy="769441"/>
          </a:xfrm>
          <a:prstGeom prst="rect">
            <a:avLst/>
          </a:prstGeom>
        </p:spPr>
        <p:style>
          <a:lnRef idx="0">
            <a:schemeClr val="accent2"/>
          </a:lnRef>
          <a:fillRef idx="3">
            <a:schemeClr val="accent2"/>
          </a:fillRef>
          <a:effectRef idx="3">
            <a:schemeClr val="accent2"/>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IN" sz="4400" b="1">
                <a:latin typeface="Times New Roman"/>
                <a:cs typeface="Times New Roman"/>
              </a:rPr>
              <a:t> Introduction</a:t>
            </a:r>
            <a:endParaRPr lang="en-US"/>
          </a:p>
        </p:txBody>
      </p:sp>
      <p:pic>
        <p:nvPicPr>
          <p:cNvPr id="6" name="Picture 5" descr="Man writing on music sheet">
            <a:extLst>
              <a:ext uri="{FF2B5EF4-FFF2-40B4-BE49-F238E27FC236}">
                <a16:creationId xmlns:a16="http://schemas.microsoft.com/office/drawing/2014/main" id="{5BBBE29D-F318-DC68-02BD-F863BA03B9D5}"/>
              </a:ext>
            </a:extLst>
          </p:cNvPr>
          <p:cNvPicPr>
            <a:picLocks noChangeAspect="1"/>
          </p:cNvPicPr>
          <p:nvPr/>
        </p:nvPicPr>
        <p:blipFill>
          <a:blip r:embed="rId2"/>
          <a:srcRect l="18071" r="15178" b="-2"/>
          <a:stretch>
            <a:fillRect/>
          </a:stretch>
        </p:blipFill>
        <p:spPr>
          <a:xfrm>
            <a:off x="6891529" y="771429"/>
            <a:ext cx="5057662" cy="5109323"/>
          </a:xfrm>
          <a:custGeom>
            <a:avLst/>
            <a:gdLst/>
            <a:ahLst/>
            <a:cxnLst/>
            <a:rect l="l" t="t" r="r" b="b"/>
            <a:pathLst>
              <a:path w="2663168" h="2663168">
                <a:moveTo>
                  <a:pt x="1331584" y="0"/>
                </a:moveTo>
                <a:cubicBezTo>
                  <a:pt x="2066998" y="0"/>
                  <a:pt x="2663168" y="596170"/>
                  <a:pt x="2663168" y="1331584"/>
                </a:cubicBezTo>
                <a:cubicBezTo>
                  <a:pt x="2663168" y="2066998"/>
                  <a:pt x="2066998" y="2663168"/>
                  <a:pt x="1331584" y="2663168"/>
                </a:cubicBezTo>
                <a:cubicBezTo>
                  <a:pt x="596170" y="2663168"/>
                  <a:pt x="0" y="2066998"/>
                  <a:pt x="0" y="1331584"/>
                </a:cubicBezTo>
                <a:cubicBezTo>
                  <a:pt x="0" y="596170"/>
                  <a:pt x="596170" y="0"/>
                  <a:pt x="1331584" y="0"/>
                </a:cubicBezTo>
                <a:close/>
              </a:path>
            </a:pathLst>
          </a:custGeom>
        </p:spPr>
      </p:pic>
    </p:spTree>
    <p:extLst>
      <p:ext uri="{BB962C8B-B14F-4D97-AF65-F5344CB8AC3E}">
        <p14:creationId xmlns:p14="http://schemas.microsoft.com/office/powerpoint/2010/main" val="280480792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9">
          <a:extLst>
            <a:ext uri="{FF2B5EF4-FFF2-40B4-BE49-F238E27FC236}">
              <a16:creationId xmlns:a16="http://schemas.microsoft.com/office/drawing/2014/main" id="{C95DCF86-2F64-3A07-5187-0EF863DDA605}"/>
            </a:ext>
          </a:extLst>
        </p:cNvPr>
        <p:cNvGrpSpPr/>
        <p:nvPr/>
      </p:nvGrpSpPr>
      <p:grpSpPr>
        <a:xfrm>
          <a:off x="0" y="0"/>
          <a:ext cx="0" cy="0"/>
          <a:chOff x="0" y="0"/>
          <a:chExt cx="0" cy="0"/>
        </a:xfrm>
      </p:grpSpPr>
      <p:sp useBgFill="1">
        <p:nvSpPr>
          <p:cNvPr id="135" name="Rectangle 134">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6" name="Freeform: Shape 135">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167271"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0" name="Google Shape;110;p4">
            <a:extLst>
              <a:ext uri="{FF2B5EF4-FFF2-40B4-BE49-F238E27FC236}">
                <a16:creationId xmlns:a16="http://schemas.microsoft.com/office/drawing/2014/main" id="{676DD768-0D64-51A7-FEF7-817E0B3DCF04}"/>
              </a:ext>
            </a:extLst>
          </p:cNvPr>
          <p:cNvSpPr txBox="1">
            <a:spLocks noGrp="1"/>
          </p:cNvSpPr>
          <p:nvPr>
            <p:ph type="title"/>
          </p:nvPr>
        </p:nvSpPr>
        <p:spPr>
          <a:xfrm>
            <a:off x="686834" y="1153572"/>
            <a:ext cx="3200400" cy="4461163"/>
          </a:xfrm>
          <a:prstGeom prst="rect">
            <a:avLst/>
          </a:prstGeom>
        </p:spPr>
        <p:txBody>
          <a:bodyPr spcFirstLastPara="1" lIns="91425" tIns="45700" rIns="91425" bIns="45700" anchorCtr="0">
            <a:normAutofit/>
          </a:bodyPr>
          <a:lstStyle/>
          <a:p>
            <a:pPr marL="0" lvl="0" indent="0" rtl="0">
              <a:spcBef>
                <a:spcPts val="0"/>
              </a:spcBef>
              <a:spcAft>
                <a:spcPts val="0"/>
              </a:spcAft>
              <a:buClr>
                <a:srgbClr val="FF0000"/>
              </a:buClr>
              <a:buSzPts val="4400"/>
              <a:buFont typeface="Calibri"/>
              <a:buNone/>
            </a:pPr>
            <a:r>
              <a:rPr lang="en-IN" b="1" dirty="0">
                <a:solidFill>
                  <a:srgbClr val="FFFFFF"/>
                </a:solidFill>
                <a:latin typeface="Times New Roman" panose="02020603050405020304" pitchFamily="18" charset="0"/>
                <a:cs typeface="Times New Roman" panose="02020603050405020304" pitchFamily="18" charset="0"/>
              </a:rPr>
              <a:t>Problem Statement</a:t>
            </a:r>
          </a:p>
        </p:txBody>
      </p:sp>
      <p:sp>
        <p:nvSpPr>
          <p:cNvPr id="137" name="Arc 136">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111" name="Google Shape;111;p4">
            <a:extLst>
              <a:ext uri="{FF2B5EF4-FFF2-40B4-BE49-F238E27FC236}">
                <a16:creationId xmlns:a16="http://schemas.microsoft.com/office/drawing/2014/main" id="{7B60C8AB-2091-48B6-E5FC-54C38DE1385C}"/>
              </a:ext>
            </a:extLst>
          </p:cNvPr>
          <p:cNvSpPr txBox="1">
            <a:spLocks noGrp="1"/>
          </p:cNvSpPr>
          <p:nvPr>
            <p:ph type="body" idx="1"/>
          </p:nvPr>
        </p:nvSpPr>
        <p:spPr>
          <a:xfrm>
            <a:off x="4447308" y="591344"/>
            <a:ext cx="6906491" cy="5585619"/>
          </a:xfrm>
          <a:prstGeom prst="rect">
            <a:avLst/>
          </a:prstGeom>
        </p:spPr>
        <p:txBody>
          <a:bodyPr spcFirstLastPara="1" wrap="square" lIns="91425" tIns="45700" rIns="91425" bIns="45700" anchor="ctr" anchorCtr="0">
            <a:noAutofit/>
          </a:bodyPr>
          <a:lstStyle/>
          <a:p>
            <a:pPr marL="114300" indent="0">
              <a:buClr>
                <a:srgbClr val="C00000"/>
              </a:buClr>
              <a:buNone/>
            </a:pPr>
            <a:endParaRPr lang="en-US" dirty="0">
              <a:latin typeface="Times New Roman"/>
              <a:cs typeface="Times New Roman"/>
            </a:endParaRPr>
          </a:p>
          <a:p>
            <a:pPr marL="114300" indent="0">
              <a:buClr>
                <a:srgbClr val="C00000"/>
              </a:buClr>
              <a:buNone/>
            </a:pPr>
            <a:r>
              <a:rPr lang="en-US" sz="2000" dirty="0">
                <a:latin typeface="Times New Roman"/>
                <a:cs typeface="Times New Roman"/>
              </a:rPr>
              <a:t>Music retailers gather large volumes of transactional and customer data, but often struggle to translate it into meaningful business intelligence. By applying SQL-based analysis, this raw information can be transformed into clear insights that guide strategic decisions. Key questions to explore include:</a:t>
            </a:r>
          </a:p>
          <a:p>
            <a:pPr>
              <a:buClr>
                <a:srgbClr val="C00000"/>
              </a:buClr>
              <a:buFont typeface="Wingdings" panose="02020603050405020304" pitchFamily="18" charset="0"/>
              <a:buChar char="Ø"/>
            </a:pPr>
            <a:r>
              <a:rPr lang="en-US" sz="2000" b="1" dirty="0">
                <a:latin typeface="Times New Roman"/>
                <a:cs typeface="Times New Roman"/>
              </a:rPr>
              <a:t>Customer value:</a:t>
            </a:r>
            <a:r>
              <a:rPr lang="en-US" sz="2000" dirty="0">
                <a:latin typeface="Times New Roman"/>
                <a:cs typeface="Times New Roman"/>
              </a:rPr>
              <a:t> Which buyers contribute the most to overall sales?</a:t>
            </a:r>
          </a:p>
          <a:p>
            <a:pPr>
              <a:buClr>
                <a:srgbClr val="C00000"/>
              </a:buClr>
              <a:buFont typeface="Wingdings" panose="02020603050405020304" pitchFamily="18" charset="0"/>
              <a:buChar char="Ø"/>
            </a:pPr>
            <a:r>
              <a:rPr lang="en-US" sz="2000" b="1" dirty="0">
                <a:latin typeface="Times New Roman"/>
                <a:cs typeface="Times New Roman"/>
              </a:rPr>
              <a:t>Regional performance:</a:t>
            </a:r>
            <a:r>
              <a:rPr lang="en-US" sz="2000" dirty="0">
                <a:latin typeface="Times New Roman"/>
                <a:cs typeface="Times New Roman"/>
              </a:rPr>
              <a:t> What geographic areas drive the highest revenue?</a:t>
            </a:r>
          </a:p>
          <a:p>
            <a:pPr>
              <a:buClr>
                <a:srgbClr val="C00000"/>
              </a:buClr>
              <a:buFont typeface="Wingdings" panose="02020603050405020304" pitchFamily="18" charset="0"/>
              <a:buChar char="Ø"/>
            </a:pPr>
            <a:r>
              <a:rPr lang="en-US" sz="2000" b="1" dirty="0">
                <a:latin typeface="Times New Roman"/>
                <a:cs typeface="Times New Roman"/>
              </a:rPr>
              <a:t>Product trends:</a:t>
            </a:r>
            <a:r>
              <a:rPr lang="en-US" sz="2000" dirty="0">
                <a:latin typeface="Times New Roman"/>
                <a:cs typeface="Times New Roman"/>
              </a:rPr>
              <a:t> Which music genres and artists are consistently in demand?</a:t>
            </a:r>
          </a:p>
          <a:p>
            <a:pPr>
              <a:buClr>
                <a:srgbClr val="C00000"/>
              </a:buClr>
              <a:buFont typeface="Wingdings" panose="02020603050405020304" pitchFamily="18" charset="0"/>
              <a:buChar char="Ø"/>
            </a:pPr>
            <a:r>
              <a:rPr lang="en-US" sz="2000" b="1" dirty="0">
                <a:latin typeface="Times New Roman"/>
                <a:cs typeface="Times New Roman"/>
              </a:rPr>
              <a:t>Market differences:</a:t>
            </a:r>
            <a:r>
              <a:rPr lang="en-US" sz="2000" dirty="0">
                <a:latin typeface="Times New Roman"/>
                <a:cs typeface="Times New Roman"/>
              </a:rPr>
              <a:t> How do purchasing habits vary across different countries?</a:t>
            </a:r>
          </a:p>
          <a:p>
            <a:pPr marL="114300" indent="0">
              <a:buClr>
                <a:srgbClr val="000000"/>
              </a:buClr>
              <a:buNone/>
            </a:pPr>
            <a:r>
              <a:rPr lang="en-US" sz="2000" dirty="0">
                <a:latin typeface="Times New Roman"/>
                <a:cs typeface="Times New Roman"/>
              </a:rPr>
              <a:t>The objective is to move beyond data collection and uncover actionable patterns that highlight customer behavior, regional strengths, and product popularity—ultimately enabling smarter decisions and stronger growth.</a:t>
            </a:r>
          </a:p>
          <a:p>
            <a:pPr>
              <a:buClr>
                <a:srgbClr val="C00000"/>
              </a:buClr>
              <a:buFont typeface="Wingdings" panose="02020603050405020304" pitchFamily="18" charset="0"/>
              <a:buChar char="Ø"/>
            </a:pPr>
            <a:endParaRPr lang="en-US" dirty="0">
              <a:latin typeface="Times New Roman" panose="02020603050405020304" pitchFamily="18" charset="0"/>
              <a:cs typeface="Times New Roman" panose="02020603050405020304" pitchFamily="18" charset="0"/>
            </a:endParaRPr>
          </a:p>
        </p:txBody>
      </p:sp>
      <p:pic>
        <p:nvPicPr>
          <p:cNvPr id="3" name="Picture 2" descr="A logo with a couple of people&#10;&#10;AI-generated content may be incorrect.">
            <a:extLst>
              <a:ext uri="{FF2B5EF4-FFF2-40B4-BE49-F238E27FC236}">
                <a16:creationId xmlns:a16="http://schemas.microsoft.com/office/drawing/2014/main" id="{B8C60AEB-3102-4FEE-7136-FC146A784BE7}"/>
              </a:ext>
            </a:extLst>
          </p:cNvPr>
          <p:cNvPicPr>
            <a:picLocks noChangeAspect="1"/>
          </p:cNvPicPr>
          <p:nvPr/>
        </p:nvPicPr>
        <p:blipFill>
          <a:blip r:embed="rId3"/>
          <a:stretch>
            <a:fillRect/>
          </a:stretch>
        </p:blipFill>
        <p:spPr>
          <a:xfrm>
            <a:off x="9654026" y="5957614"/>
            <a:ext cx="2378292" cy="819807"/>
          </a:xfrm>
          <a:prstGeom prst="rect">
            <a:avLst/>
          </a:prstGeom>
        </p:spPr>
      </p:pic>
    </p:spTree>
    <p:extLst>
      <p:ext uri="{BB962C8B-B14F-4D97-AF65-F5344CB8AC3E}">
        <p14:creationId xmlns:p14="http://schemas.microsoft.com/office/powerpoint/2010/main" val="236148953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9">
          <a:extLst>
            <a:ext uri="{FF2B5EF4-FFF2-40B4-BE49-F238E27FC236}">
              <a16:creationId xmlns:a16="http://schemas.microsoft.com/office/drawing/2014/main" id="{F647184A-50A1-5509-146A-002DEDE604B6}"/>
            </a:ext>
          </a:extLst>
        </p:cNvPr>
        <p:cNvGrpSpPr/>
        <p:nvPr/>
      </p:nvGrpSpPr>
      <p:grpSpPr>
        <a:xfrm>
          <a:off x="0" y="0"/>
          <a:ext cx="0" cy="0"/>
          <a:chOff x="0" y="0"/>
          <a:chExt cx="0" cy="0"/>
        </a:xfrm>
      </p:grpSpPr>
      <p:sp useBgFill="1">
        <p:nvSpPr>
          <p:cNvPr id="133" name="Rectangle 132">
            <a:extLst>
              <a:ext uri="{FF2B5EF4-FFF2-40B4-BE49-F238E27FC236}">
                <a16:creationId xmlns:a16="http://schemas.microsoft.com/office/drawing/2014/main" id="{4037C1C0-FADA-40C7-B923-037899A24F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110" name="Google Shape;110;p4">
            <a:extLst>
              <a:ext uri="{FF2B5EF4-FFF2-40B4-BE49-F238E27FC236}">
                <a16:creationId xmlns:a16="http://schemas.microsoft.com/office/drawing/2014/main" id="{0D6D4930-B1B9-6FFF-3887-728645C49F23}"/>
              </a:ext>
            </a:extLst>
          </p:cNvPr>
          <p:cNvSpPr txBox="1">
            <a:spLocks noGrp="1"/>
          </p:cNvSpPr>
          <p:nvPr>
            <p:ph type="title"/>
          </p:nvPr>
        </p:nvSpPr>
        <p:spPr>
          <a:xfrm>
            <a:off x="4037503" y="895616"/>
            <a:ext cx="3721708" cy="696768"/>
          </a:xfrm>
          <a:prstGeom prst="rect">
            <a:avLst/>
          </a:prstGeom>
        </p:spPr>
        <p:style>
          <a:lnRef idx="0">
            <a:schemeClr val="accent2"/>
          </a:lnRef>
          <a:fillRef idx="3">
            <a:schemeClr val="accent2"/>
          </a:fillRef>
          <a:effectRef idx="3">
            <a:schemeClr val="accent2"/>
          </a:effectRef>
          <a:fontRef idx="minor">
            <a:schemeClr val="lt1"/>
          </a:fontRef>
        </p:style>
        <p:txBody>
          <a:bodyPr spcFirstLastPara="1" lIns="91425" tIns="45700" rIns="91425" bIns="45700" anchorCtr="0">
            <a:normAutofit/>
          </a:bodyPr>
          <a:lstStyle/>
          <a:p>
            <a:pPr>
              <a:buClr>
                <a:srgbClr val="FF0000"/>
              </a:buClr>
              <a:buSzPts val="4400"/>
            </a:pPr>
            <a:r>
              <a:rPr lang="en-US" b="1" dirty="0">
                <a:latin typeface="Times New Roman"/>
                <a:cs typeface="Times New Roman"/>
              </a:rPr>
              <a:t>   </a:t>
            </a:r>
            <a:r>
              <a:rPr lang="en-US" b="1">
                <a:solidFill>
                  <a:schemeClr val="bg1"/>
                </a:solidFill>
                <a:latin typeface="Times New Roman"/>
                <a:cs typeface="Times New Roman"/>
              </a:rPr>
              <a:t>Objectives</a:t>
            </a:r>
            <a:endParaRPr lang="en-US" b="1" dirty="0">
              <a:solidFill>
                <a:schemeClr val="bg1"/>
              </a:solidFill>
              <a:latin typeface="Times New Roman" panose="02020603050405020304" pitchFamily="18" charset="0"/>
              <a:cs typeface="Times New Roman" panose="02020603050405020304" pitchFamily="18" charset="0"/>
            </a:endParaRPr>
          </a:p>
        </p:txBody>
      </p:sp>
      <p:sp>
        <p:nvSpPr>
          <p:cNvPr id="135" name="Arc 134">
            <a:extLst>
              <a:ext uri="{FF2B5EF4-FFF2-40B4-BE49-F238E27FC236}">
                <a16:creationId xmlns:a16="http://schemas.microsoft.com/office/drawing/2014/main" id="{4B56CC07-3AFD-4C79-AFB2-0428FBBD79D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9943208">
            <a:off x="-619225" y="5190398"/>
            <a:ext cx="2987899" cy="2987899"/>
          </a:xfrm>
          <a:prstGeom prst="arc">
            <a:avLst>
              <a:gd name="adj1" fmla="val 16200000"/>
              <a:gd name="adj2" fmla="val 2563720"/>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graphicFrame>
        <p:nvGraphicFramePr>
          <p:cNvPr id="126" name="Google Shape;111;p4">
            <a:extLst>
              <a:ext uri="{FF2B5EF4-FFF2-40B4-BE49-F238E27FC236}">
                <a16:creationId xmlns:a16="http://schemas.microsoft.com/office/drawing/2014/main" id="{769BFC79-3F8B-F3F9-8BB7-D688BE48BFB1}"/>
              </a:ext>
            </a:extLst>
          </p:cNvPr>
          <p:cNvGraphicFramePr/>
          <p:nvPr>
            <p:extLst>
              <p:ext uri="{D42A27DB-BD31-4B8C-83A1-F6EECF244321}">
                <p14:modId xmlns:p14="http://schemas.microsoft.com/office/powerpoint/2010/main" val="2226211634"/>
              </p:ext>
            </p:extLst>
          </p:nvPr>
        </p:nvGraphicFramePr>
        <p:xfrm>
          <a:off x="1451321" y="1588775"/>
          <a:ext cx="10374301" cy="435133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pic>
        <p:nvPicPr>
          <p:cNvPr id="67" name="Picture 66" descr="A logo with a couple of people&#10;&#10;AI-generated content may be incorrect.">
            <a:extLst>
              <a:ext uri="{FF2B5EF4-FFF2-40B4-BE49-F238E27FC236}">
                <a16:creationId xmlns:a16="http://schemas.microsoft.com/office/drawing/2014/main" id="{32E09A21-B365-0291-6A56-BA85D08A860C}"/>
              </a:ext>
            </a:extLst>
          </p:cNvPr>
          <p:cNvPicPr>
            <a:picLocks noChangeAspect="1"/>
          </p:cNvPicPr>
          <p:nvPr/>
        </p:nvPicPr>
        <p:blipFill>
          <a:blip r:embed="rId8"/>
          <a:stretch>
            <a:fillRect/>
          </a:stretch>
        </p:blipFill>
        <p:spPr>
          <a:xfrm>
            <a:off x="9661500" y="5924795"/>
            <a:ext cx="2370818" cy="929312"/>
          </a:xfrm>
          <a:prstGeom prst="rect">
            <a:avLst/>
          </a:prstGeom>
        </p:spPr>
      </p:pic>
    </p:spTree>
    <p:extLst>
      <p:ext uri="{BB962C8B-B14F-4D97-AF65-F5344CB8AC3E}">
        <p14:creationId xmlns:p14="http://schemas.microsoft.com/office/powerpoint/2010/main" val="206670022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A screenshot of a computer&#10;&#10;AI-generated content may be incorrect.">
            <a:extLst>
              <a:ext uri="{FF2B5EF4-FFF2-40B4-BE49-F238E27FC236}">
                <a16:creationId xmlns:a16="http://schemas.microsoft.com/office/drawing/2014/main" id="{7C2E6BAC-D317-98B9-7803-095BBC963A80}"/>
              </a:ext>
            </a:extLst>
          </p:cNvPr>
          <p:cNvPicPr>
            <a:picLocks noChangeAspect="1"/>
          </p:cNvPicPr>
          <p:nvPr/>
        </p:nvPicPr>
        <p:blipFill>
          <a:blip r:embed="rId2"/>
          <a:stretch>
            <a:fillRect/>
          </a:stretch>
        </p:blipFill>
        <p:spPr>
          <a:xfrm>
            <a:off x="1355860" y="962025"/>
            <a:ext cx="4559569" cy="4933950"/>
          </a:xfrm>
          <a:prstGeom prst="rect">
            <a:avLst/>
          </a:prstGeom>
        </p:spPr>
      </p:pic>
      <p:sp>
        <p:nvSpPr>
          <p:cNvPr id="5" name="TextBox 4">
            <a:extLst>
              <a:ext uri="{FF2B5EF4-FFF2-40B4-BE49-F238E27FC236}">
                <a16:creationId xmlns:a16="http://schemas.microsoft.com/office/drawing/2014/main" id="{862629C6-C707-6CA8-025E-4CC27A6AFCC3}"/>
              </a:ext>
            </a:extLst>
          </p:cNvPr>
          <p:cNvSpPr txBox="1"/>
          <p:nvPr/>
        </p:nvSpPr>
        <p:spPr>
          <a:xfrm>
            <a:off x="6096000" y="1984612"/>
            <a:ext cx="5732059" cy="769441"/>
          </a:xfrm>
          <a:prstGeom prst="rect">
            <a:avLst/>
          </a:prstGeom>
        </p:spPr>
        <p:style>
          <a:lnRef idx="0">
            <a:schemeClr val="accent2"/>
          </a:lnRef>
          <a:fillRef idx="3">
            <a:schemeClr val="accent2"/>
          </a:fillRef>
          <a:effectRef idx="3">
            <a:schemeClr val="accent2"/>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GB" sz="4400" b="1">
                <a:solidFill>
                  <a:schemeClr val="bg1"/>
                </a:solidFill>
                <a:latin typeface="Times New Roman"/>
                <a:cs typeface="Times New Roman"/>
              </a:rPr>
              <a:t>Tables</a:t>
            </a:r>
          </a:p>
        </p:txBody>
      </p:sp>
    </p:spTree>
    <p:extLst>
      <p:ext uri="{BB962C8B-B14F-4D97-AF65-F5344CB8AC3E}">
        <p14:creationId xmlns:p14="http://schemas.microsoft.com/office/powerpoint/2010/main" val="311219531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09">
          <a:extLst>
            <a:ext uri="{FF2B5EF4-FFF2-40B4-BE49-F238E27FC236}">
              <a16:creationId xmlns:a16="http://schemas.microsoft.com/office/drawing/2014/main" id="{8FEFA6A5-6650-0692-BF45-F02E94842C15}"/>
            </a:ext>
          </a:extLst>
        </p:cNvPr>
        <p:cNvGrpSpPr/>
        <p:nvPr/>
      </p:nvGrpSpPr>
      <p:grpSpPr>
        <a:xfrm>
          <a:off x="0" y="0"/>
          <a:ext cx="0" cy="0"/>
          <a:chOff x="0" y="0"/>
          <a:chExt cx="0" cy="0"/>
        </a:xfrm>
      </p:grpSpPr>
      <p:sp>
        <p:nvSpPr>
          <p:cNvPr id="110" name="Google Shape;110;p4">
            <a:extLst>
              <a:ext uri="{FF2B5EF4-FFF2-40B4-BE49-F238E27FC236}">
                <a16:creationId xmlns:a16="http://schemas.microsoft.com/office/drawing/2014/main" id="{B181A39D-22F6-4CA6-23ED-1D548F783EC7}"/>
              </a:ext>
            </a:extLst>
          </p:cNvPr>
          <p:cNvSpPr txBox="1">
            <a:spLocks noGrp="1"/>
          </p:cNvSpPr>
          <p:nvPr>
            <p:ph type="title"/>
          </p:nvPr>
        </p:nvSpPr>
        <p:spPr>
          <a:xfrm>
            <a:off x="1399920" y="1048203"/>
            <a:ext cx="3406467" cy="493078"/>
          </a:xfrm>
          <a:prstGeom prst="rect">
            <a:avLst/>
          </a:prstGeom>
          <a:noFill/>
          <a:ln>
            <a:noFill/>
          </a:ln>
        </p:spPr>
        <p:txBody>
          <a:bodyPr spcFirstLastPara="1" wrap="square" lIns="91425" tIns="45700" rIns="91425" bIns="45700" anchor="ctr" anchorCtr="0">
            <a:normAutofit fontScale="90000"/>
          </a:bodyPr>
          <a:lstStyle/>
          <a:p>
            <a:pPr lvl="0" algn="ctr" rtl="0">
              <a:lnSpc>
                <a:spcPct val="100000"/>
              </a:lnSpc>
              <a:spcBef>
                <a:spcPts val="0"/>
              </a:spcBef>
              <a:spcAft>
                <a:spcPts val="0"/>
              </a:spcAft>
              <a:buClr>
                <a:srgbClr val="002060"/>
              </a:buClr>
              <a:buSzPts val="4400"/>
            </a:pPr>
            <a:r>
              <a:rPr lang="en-IN" sz="3600" dirty="0">
                <a:ln w="0"/>
                <a:solidFill>
                  <a:schemeClr val="tx1"/>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1. Genre Table</a:t>
            </a:r>
            <a:endParaRPr sz="3600" dirty="0">
              <a:ln w="0"/>
              <a:solidFill>
                <a:schemeClr val="tx1"/>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endParaRPr>
          </a:p>
        </p:txBody>
      </p:sp>
      <p:sp>
        <p:nvSpPr>
          <p:cNvPr id="2" name="Google Shape;110;p4">
            <a:extLst>
              <a:ext uri="{FF2B5EF4-FFF2-40B4-BE49-F238E27FC236}">
                <a16:creationId xmlns:a16="http://schemas.microsoft.com/office/drawing/2014/main" id="{6C0D7CA9-AFEA-11DC-5FDD-993DA78D0754}"/>
              </a:ext>
            </a:extLst>
          </p:cNvPr>
          <p:cNvSpPr txBox="1">
            <a:spLocks/>
          </p:cNvSpPr>
          <p:nvPr/>
        </p:nvSpPr>
        <p:spPr>
          <a:xfrm>
            <a:off x="6701426" y="994378"/>
            <a:ext cx="4233170" cy="613024"/>
          </a:xfrm>
          <a:prstGeom prst="rect">
            <a:avLst/>
          </a:prstGeom>
          <a:noFill/>
          <a:ln>
            <a:noFill/>
          </a:ln>
        </p:spPr>
        <p:txBody>
          <a:bodyPr spcFirstLastPara="1" wrap="square" lIns="91425" tIns="45700" rIns="91425" bIns="45700" anchor="ctr" anchorCtr="0">
            <a:normAutofit/>
          </a:bodyPr>
          <a:lstStyle>
            <a:defPPr marR="0" lvl="0" algn="l" rtl="0">
              <a:lnSpc>
                <a:spcPct val="100000"/>
              </a:lnSpc>
              <a:spcBef>
                <a:spcPts val="0"/>
              </a:spcBef>
              <a:spcAft>
                <a:spcPts val="0"/>
              </a:spcAft>
            </a:defPPr>
            <a:lvl1pPr marR="0" lvl="0" algn="l" rtl="0">
              <a:lnSpc>
                <a:spcPct val="90000"/>
              </a:lnSpc>
              <a:spcBef>
                <a:spcPts val="0"/>
              </a:spcBef>
              <a:spcAft>
                <a:spcPts val="0"/>
              </a:spcAft>
              <a:buClr>
                <a:schemeClr val="dk1"/>
              </a:buClr>
              <a:buSzPts val="18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algn="ctr">
              <a:lnSpc>
                <a:spcPct val="100000"/>
              </a:lnSpc>
              <a:buClr>
                <a:srgbClr val="002060"/>
              </a:buClr>
              <a:buSzPts val="4400"/>
            </a:pPr>
            <a:r>
              <a:rPr lang="en-US" sz="3200" dirty="0">
                <a:ln w="0"/>
                <a:solidFill>
                  <a:schemeClr val="tx1"/>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2. MediaType Table</a:t>
            </a:r>
          </a:p>
        </p:txBody>
      </p:sp>
      <p:pic>
        <p:nvPicPr>
          <p:cNvPr id="4" name="Picture 3">
            <a:extLst>
              <a:ext uri="{FF2B5EF4-FFF2-40B4-BE49-F238E27FC236}">
                <a16:creationId xmlns:a16="http://schemas.microsoft.com/office/drawing/2014/main" id="{135C66B3-37E2-A37B-AD96-707E7B19D769}"/>
              </a:ext>
            </a:extLst>
          </p:cNvPr>
          <p:cNvPicPr>
            <a:picLocks noChangeAspect="1"/>
          </p:cNvPicPr>
          <p:nvPr/>
        </p:nvPicPr>
        <p:blipFill>
          <a:blip r:embed="rId3"/>
          <a:stretch>
            <a:fillRect/>
          </a:stretch>
        </p:blipFill>
        <p:spPr>
          <a:xfrm>
            <a:off x="503543" y="1729018"/>
            <a:ext cx="4673793" cy="840338"/>
          </a:xfrm>
          <a:prstGeom prst="rect">
            <a:avLst/>
          </a:prstGeom>
          <a:ln>
            <a:noFill/>
          </a:ln>
          <a:effectLst>
            <a:outerShdw blurRad="292100" dist="139700" dir="2700000" algn="tl" rotWithShape="0">
              <a:srgbClr val="333333">
                <a:alpha val="65000"/>
              </a:srgbClr>
            </a:outerShdw>
          </a:effectLst>
        </p:spPr>
      </p:pic>
      <p:pic>
        <p:nvPicPr>
          <p:cNvPr id="10" name="Picture 9">
            <a:extLst>
              <a:ext uri="{FF2B5EF4-FFF2-40B4-BE49-F238E27FC236}">
                <a16:creationId xmlns:a16="http://schemas.microsoft.com/office/drawing/2014/main" id="{0899D41C-89FD-302D-739C-01D12F46C4C7}"/>
              </a:ext>
            </a:extLst>
          </p:cNvPr>
          <p:cNvPicPr>
            <a:picLocks noChangeAspect="1"/>
          </p:cNvPicPr>
          <p:nvPr/>
        </p:nvPicPr>
        <p:blipFill>
          <a:blip r:embed="rId4"/>
          <a:stretch>
            <a:fillRect/>
          </a:stretch>
        </p:blipFill>
        <p:spPr>
          <a:xfrm>
            <a:off x="6043604" y="1729018"/>
            <a:ext cx="5282128" cy="840338"/>
          </a:xfrm>
          <a:prstGeom prst="rect">
            <a:avLst/>
          </a:prstGeom>
          <a:ln>
            <a:noFill/>
          </a:ln>
          <a:effectLst>
            <a:outerShdw blurRad="292100" dist="139700" dir="2700000" algn="tl" rotWithShape="0">
              <a:srgbClr val="333333">
                <a:alpha val="65000"/>
              </a:srgbClr>
            </a:outerShdw>
          </a:effectLst>
        </p:spPr>
      </p:pic>
      <p:sp>
        <p:nvSpPr>
          <p:cNvPr id="13" name="Google Shape;110;p4">
            <a:extLst>
              <a:ext uri="{FF2B5EF4-FFF2-40B4-BE49-F238E27FC236}">
                <a16:creationId xmlns:a16="http://schemas.microsoft.com/office/drawing/2014/main" id="{0994F2A4-AA71-626E-0982-8BD5DD300101}"/>
              </a:ext>
            </a:extLst>
          </p:cNvPr>
          <p:cNvSpPr txBox="1">
            <a:spLocks/>
          </p:cNvSpPr>
          <p:nvPr/>
        </p:nvSpPr>
        <p:spPr>
          <a:xfrm>
            <a:off x="943053" y="3144880"/>
            <a:ext cx="3893962" cy="560335"/>
          </a:xfrm>
          <a:prstGeom prst="rect">
            <a:avLst/>
          </a:prstGeom>
          <a:noFill/>
          <a:ln>
            <a:noFill/>
          </a:ln>
        </p:spPr>
        <p:txBody>
          <a:bodyPr spcFirstLastPara="1" wrap="square" lIns="91425" tIns="45700" rIns="91425" bIns="45700" anchor="ctr" anchorCtr="0">
            <a:normAutofit lnSpcReduction="10000"/>
          </a:bodyPr>
          <a:lstStyle>
            <a:defPPr marR="0" lvl="0" algn="l" rtl="0">
              <a:lnSpc>
                <a:spcPct val="100000"/>
              </a:lnSpc>
              <a:spcBef>
                <a:spcPts val="0"/>
              </a:spcBef>
              <a:spcAft>
                <a:spcPts val="0"/>
              </a:spcAft>
            </a:defPPr>
            <a:lvl1pPr marR="0" lvl="0" algn="l" rtl="0">
              <a:lnSpc>
                <a:spcPct val="90000"/>
              </a:lnSpc>
              <a:spcBef>
                <a:spcPts val="0"/>
              </a:spcBef>
              <a:spcAft>
                <a:spcPts val="0"/>
              </a:spcAft>
              <a:buClr>
                <a:schemeClr val="dk1"/>
              </a:buClr>
              <a:buSzPts val="18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algn="ctr">
              <a:lnSpc>
                <a:spcPct val="100000"/>
              </a:lnSpc>
              <a:buClr>
                <a:srgbClr val="002060"/>
              </a:buClr>
              <a:buSzPts val="4400"/>
            </a:pPr>
            <a:r>
              <a:rPr lang="en-IN" sz="3200" dirty="0">
                <a:ln w="0"/>
                <a:solidFill>
                  <a:schemeClr val="tx1"/>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3. Employee Table</a:t>
            </a:r>
          </a:p>
        </p:txBody>
      </p:sp>
      <p:pic>
        <p:nvPicPr>
          <p:cNvPr id="16" name="Picture 15">
            <a:extLst>
              <a:ext uri="{FF2B5EF4-FFF2-40B4-BE49-F238E27FC236}">
                <a16:creationId xmlns:a16="http://schemas.microsoft.com/office/drawing/2014/main" id="{5EDD561D-D652-0C87-F7AF-1A9D04CABFF0}"/>
              </a:ext>
            </a:extLst>
          </p:cNvPr>
          <p:cNvPicPr>
            <a:picLocks noChangeAspect="1"/>
          </p:cNvPicPr>
          <p:nvPr/>
        </p:nvPicPr>
        <p:blipFill>
          <a:blip r:embed="rId5"/>
          <a:stretch>
            <a:fillRect/>
          </a:stretch>
        </p:blipFill>
        <p:spPr>
          <a:xfrm>
            <a:off x="1356377" y="3751883"/>
            <a:ext cx="2980229" cy="2552099"/>
          </a:xfrm>
          <a:prstGeom prst="rect">
            <a:avLst/>
          </a:prstGeom>
          <a:ln>
            <a:noFill/>
          </a:ln>
          <a:effectLst>
            <a:outerShdw blurRad="292100" dist="139700" dir="2700000" algn="tl" rotWithShape="0">
              <a:srgbClr val="333333">
                <a:alpha val="65000"/>
              </a:srgbClr>
            </a:outerShdw>
          </a:effectLst>
        </p:spPr>
      </p:pic>
      <p:pic>
        <p:nvPicPr>
          <p:cNvPr id="3" name="Picture 2">
            <a:extLst>
              <a:ext uri="{FF2B5EF4-FFF2-40B4-BE49-F238E27FC236}">
                <a16:creationId xmlns:a16="http://schemas.microsoft.com/office/drawing/2014/main" id="{8EC5E1C2-0DA7-BFAE-9116-272C2D75992F}"/>
              </a:ext>
            </a:extLst>
          </p:cNvPr>
          <p:cNvPicPr>
            <a:picLocks noChangeAspect="1"/>
          </p:cNvPicPr>
          <p:nvPr/>
        </p:nvPicPr>
        <p:blipFill>
          <a:blip r:embed="rId6"/>
          <a:stretch>
            <a:fillRect/>
          </a:stretch>
        </p:blipFill>
        <p:spPr>
          <a:xfrm>
            <a:off x="7333731" y="3701029"/>
            <a:ext cx="3218767" cy="2309939"/>
          </a:xfrm>
          <a:prstGeom prst="rect">
            <a:avLst/>
          </a:prstGeom>
          <a:ln>
            <a:noFill/>
          </a:ln>
          <a:effectLst>
            <a:outerShdw blurRad="292100" dist="139700" dir="2700000" algn="tl" rotWithShape="0">
              <a:srgbClr val="333333">
                <a:alpha val="65000"/>
              </a:srgbClr>
            </a:outerShdw>
          </a:effectLst>
        </p:spPr>
      </p:pic>
      <p:sp>
        <p:nvSpPr>
          <p:cNvPr id="14" name="Google Shape;110;p4">
            <a:extLst>
              <a:ext uri="{FF2B5EF4-FFF2-40B4-BE49-F238E27FC236}">
                <a16:creationId xmlns:a16="http://schemas.microsoft.com/office/drawing/2014/main" id="{461AAE93-A911-AD56-081E-465350893169}"/>
              </a:ext>
            </a:extLst>
          </p:cNvPr>
          <p:cNvSpPr txBox="1">
            <a:spLocks/>
          </p:cNvSpPr>
          <p:nvPr/>
        </p:nvSpPr>
        <p:spPr>
          <a:xfrm>
            <a:off x="6709141" y="3077760"/>
            <a:ext cx="4225455" cy="653354"/>
          </a:xfrm>
          <a:prstGeom prst="rect">
            <a:avLst/>
          </a:prstGeom>
          <a:noFill/>
          <a:ln>
            <a:noFill/>
          </a:ln>
        </p:spPr>
        <p:txBody>
          <a:bodyPr spcFirstLastPara="1" wrap="square" lIns="91425" tIns="45700" rIns="91425" bIns="45700" anchor="ctr" anchorCtr="0">
            <a:normAutofit/>
          </a:bodyPr>
          <a:lstStyle>
            <a:defPPr marR="0" lvl="0" algn="l" rtl="0">
              <a:lnSpc>
                <a:spcPct val="100000"/>
              </a:lnSpc>
              <a:spcBef>
                <a:spcPts val="0"/>
              </a:spcBef>
              <a:spcAft>
                <a:spcPts val="0"/>
              </a:spcAft>
            </a:defPPr>
            <a:lvl1pPr marR="0" lvl="0" algn="l" rtl="0">
              <a:lnSpc>
                <a:spcPct val="90000"/>
              </a:lnSpc>
              <a:spcBef>
                <a:spcPts val="0"/>
              </a:spcBef>
              <a:spcAft>
                <a:spcPts val="0"/>
              </a:spcAft>
              <a:buClr>
                <a:schemeClr val="dk1"/>
              </a:buClr>
              <a:buSzPts val="18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algn="ctr">
              <a:lnSpc>
                <a:spcPct val="100000"/>
              </a:lnSpc>
              <a:buClr>
                <a:srgbClr val="002060"/>
              </a:buClr>
              <a:buSzPts val="4400"/>
            </a:pPr>
            <a:r>
              <a:rPr lang="en-US" sz="3200" dirty="0">
                <a:ln w="0"/>
                <a:solidFill>
                  <a:schemeClr val="tx1"/>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4. Customer Table</a:t>
            </a:r>
          </a:p>
        </p:txBody>
      </p:sp>
      <p:sp>
        <p:nvSpPr>
          <p:cNvPr id="6" name="Google Shape;110;p4">
            <a:extLst>
              <a:ext uri="{FF2B5EF4-FFF2-40B4-BE49-F238E27FC236}">
                <a16:creationId xmlns:a16="http://schemas.microsoft.com/office/drawing/2014/main" id="{AFF2DD1F-435B-048C-E75A-ADA04D78A232}"/>
              </a:ext>
            </a:extLst>
          </p:cNvPr>
          <p:cNvSpPr txBox="1">
            <a:spLocks/>
          </p:cNvSpPr>
          <p:nvPr/>
        </p:nvSpPr>
        <p:spPr>
          <a:xfrm>
            <a:off x="3759103" y="34677"/>
            <a:ext cx="4673793" cy="781611"/>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90000"/>
              </a:lnSpc>
              <a:spcBef>
                <a:spcPts val="0"/>
              </a:spcBef>
              <a:spcAft>
                <a:spcPts val="0"/>
              </a:spcAft>
              <a:buClr>
                <a:schemeClr val="dk1"/>
              </a:buClr>
              <a:buSzPts val="18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algn="ctr">
              <a:lnSpc>
                <a:spcPct val="100000"/>
              </a:lnSpc>
              <a:buClr>
                <a:srgbClr val="FF0000"/>
              </a:buClr>
              <a:buSzPts val="4400"/>
            </a:pPr>
            <a:r>
              <a:rPr lang="en-US" b="1" dirty="0">
                <a:solidFill>
                  <a:srgbClr val="C00000"/>
                </a:solidFill>
                <a:latin typeface="Times New Roman" panose="02020603050405020304" pitchFamily="18" charset="0"/>
                <a:cs typeface="Times New Roman" panose="02020603050405020304" pitchFamily="18" charset="0"/>
              </a:rPr>
              <a:t>Tables Structures</a:t>
            </a:r>
          </a:p>
        </p:txBody>
      </p:sp>
    </p:spTree>
    <p:extLst>
      <p:ext uri="{BB962C8B-B14F-4D97-AF65-F5344CB8AC3E}">
        <p14:creationId xmlns:p14="http://schemas.microsoft.com/office/powerpoint/2010/main" val="71514584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Word"/>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09">
          <a:extLst>
            <a:ext uri="{FF2B5EF4-FFF2-40B4-BE49-F238E27FC236}">
              <a16:creationId xmlns:a16="http://schemas.microsoft.com/office/drawing/2014/main" id="{45D5A086-F3F0-AA27-32D8-CF567C30D5B9}"/>
            </a:ext>
          </a:extLst>
        </p:cNvPr>
        <p:cNvGrpSpPr/>
        <p:nvPr/>
      </p:nvGrpSpPr>
      <p:grpSpPr>
        <a:xfrm>
          <a:off x="0" y="0"/>
          <a:ext cx="0" cy="0"/>
          <a:chOff x="0" y="0"/>
          <a:chExt cx="0" cy="0"/>
        </a:xfrm>
      </p:grpSpPr>
      <p:sp>
        <p:nvSpPr>
          <p:cNvPr id="110" name="Google Shape;110;p4">
            <a:extLst>
              <a:ext uri="{FF2B5EF4-FFF2-40B4-BE49-F238E27FC236}">
                <a16:creationId xmlns:a16="http://schemas.microsoft.com/office/drawing/2014/main" id="{E05BBA94-A1CA-62DC-DDA5-33624C1A19F4}"/>
              </a:ext>
            </a:extLst>
          </p:cNvPr>
          <p:cNvSpPr txBox="1">
            <a:spLocks noGrp="1"/>
          </p:cNvSpPr>
          <p:nvPr>
            <p:ph type="title"/>
          </p:nvPr>
        </p:nvSpPr>
        <p:spPr>
          <a:xfrm>
            <a:off x="7728559" y="604489"/>
            <a:ext cx="2775222" cy="731522"/>
          </a:xfrm>
          <a:prstGeom prst="rect">
            <a:avLst/>
          </a:prstGeom>
          <a:noFill/>
          <a:ln>
            <a:noFill/>
          </a:ln>
        </p:spPr>
        <p:txBody>
          <a:bodyPr spcFirstLastPara="1" wrap="square" lIns="91425" tIns="45700" rIns="91425" bIns="45700" anchor="ctr" anchorCtr="0">
            <a:normAutofit/>
          </a:bodyPr>
          <a:lstStyle/>
          <a:p>
            <a:pPr lvl="0" algn="ctr" rtl="0">
              <a:lnSpc>
                <a:spcPct val="100000"/>
              </a:lnSpc>
              <a:spcBef>
                <a:spcPts val="0"/>
              </a:spcBef>
              <a:spcAft>
                <a:spcPts val="0"/>
              </a:spcAft>
              <a:buClr>
                <a:srgbClr val="002060"/>
              </a:buClr>
              <a:buSzPts val="4400"/>
            </a:pPr>
            <a:r>
              <a:rPr lang="en-IN" sz="3200" dirty="0">
                <a:ln w="0"/>
                <a:solidFill>
                  <a:schemeClr val="tx1"/>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6. Album Table</a:t>
            </a:r>
            <a:endParaRPr sz="3200" dirty="0">
              <a:ln w="0"/>
              <a:solidFill>
                <a:schemeClr val="tx1"/>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endParaRPr>
          </a:p>
        </p:txBody>
      </p:sp>
      <p:sp>
        <p:nvSpPr>
          <p:cNvPr id="13" name="Google Shape;110;p4">
            <a:extLst>
              <a:ext uri="{FF2B5EF4-FFF2-40B4-BE49-F238E27FC236}">
                <a16:creationId xmlns:a16="http://schemas.microsoft.com/office/drawing/2014/main" id="{7E4C0F8F-B8F1-A84B-6995-7F375206866F}"/>
              </a:ext>
            </a:extLst>
          </p:cNvPr>
          <p:cNvSpPr txBox="1">
            <a:spLocks/>
          </p:cNvSpPr>
          <p:nvPr/>
        </p:nvSpPr>
        <p:spPr>
          <a:xfrm>
            <a:off x="1274860" y="609132"/>
            <a:ext cx="2726158" cy="731523"/>
          </a:xfrm>
          <a:prstGeom prst="rect">
            <a:avLst/>
          </a:prstGeom>
          <a:noFill/>
          <a:ln>
            <a:noFill/>
          </a:ln>
        </p:spPr>
        <p:txBody>
          <a:bodyPr spcFirstLastPara="1" wrap="square" lIns="91425" tIns="45700" rIns="91425" bIns="45700" anchor="ctr" anchorCtr="0">
            <a:normAutofit/>
          </a:bodyPr>
          <a:lstStyle>
            <a:defPPr marR="0" lvl="0" algn="l" rtl="0">
              <a:lnSpc>
                <a:spcPct val="100000"/>
              </a:lnSpc>
              <a:spcBef>
                <a:spcPts val="0"/>
              </a:spcBef>
              <a:spcAft>
                <a:spcPts val="0"/>
              </a:spcAft>
            </a:defPPr>
            <a:lvl1pPr marR="0" lvl="0" algn="l" rtl="0">
              <a:lnSpc>
                <a:spcPct val="90000"/>
              </a:lnSpc>
              <a:spcBef>
                <a:spcPts val="0"/>
              </a:spcBef>
              <a:spcAft>
                <a:spcPts val="0"/>
              </a:spcAft>
              <a:buClr>
                <a:schemeClr val="dk1"/>
              </a:buClr>
              <a:buSzPts val="18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algn="ctr">
              <a:lnSpc>
                <a:spcPct val="100000"/>
              </a:lnSpc>
              <a:buClr>
                <a:srgbClr val="002060"/>
              </a:buClr>
              <a:buSzPts val="4400"/>
            </a:pPr>
            <a:r>
              <a:rPr lang="en-IN" sz="3200" dirty="0">
                <a:ln w="0"/>
                <a:solidFill>
                  <a:schemeClr val="tx1"/>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5. Artist Table</a:t>
            </a:r>
          </a:p>
        </p:txBody>
      </p:sp>
      <p:pic>
        <p:nvPicPr>
          <p:cNvPr id="17" name="Picture 16">
            <a:extLst>
              <a:ext uri="{FF2B5EF4-FFF2-40B4-BE49-F238E27FC236}">
                <a16:creationId xmlns:a16="http://schemas.microsoft.com/office/drawing/2014/main" id="{18E6290E-C208-32E1-8B83-5539DBAD5736}"/>
              </a:ext>
            </a:extLst>
          </p:cNvPr>
          <p:cNvPicPr>
            <a:picLocks noChangeAspect="1"/>
          </p:cNvPicPr>
          <p:nvPr/>
        </p:nvPicPr>
        <p:blipFill>
          <a:blip r:embed="rId3"/>
          <a:stretch>
            <a:fillRect/>
          </a:stretch>
        </p:blipFill>
        <p:spPr>
          <a:xfrm>
            <a:off x="619851" y="1336011"/>
            <a:ext cx="4036176" cy="693718"/>
          </a:xfrm>
          <a:prstGeom prst="rect">
            <a:avLst/>
          </a:prstGeom>
          <a:ln>
            <a:noFill/>
          </a:ln>
          <a:effectLst>
            <a:outerShdw blurRad="292100" dist="139700" dir="2700000" algn="tl" rotWithShape="0">
              <a:srgbClr val="333333">
                <a:alpha val="65000"/>
              </a:srgbClr>
            </a:outerShdw>
          </a:effectLst>
        </p:spPr>
      </p:pic>
      <p:pic>
        <p:nvPicPr>
          <p:cNvPr id="22" name="Picture 21">
            <a:extLst>
              <a:ext uri="{FF2B5EF4-FFF2-40B4-BE49-F238E27FC236}">
                <a16:creationId xmlns:a16="http://schemas.microsoft.com/office/drawing/2014/main" id="{7D003E88-DB87-5012-1D75-41BDD077AB7F}"/>
              </a:ext>
            </a:extLst>
          </p:cNvPr>
          <p:cNvPicPr>
            <a:picLocks noChangeAspect="1"/>
          </p:cNvPicPr>
          <p:nvPr/>
        </p:nvPicPr>
        <p:blipFill>
          <a:blip r:embed="rId4"/>
          <a:stretch>
            <a:fillRect/>
          </a:stretch>
        </p:blipFill>
        <p:spPr>
          <a:xfrm>
            <a:off x="7255477" y="1336011"/>
            <a:ext cx="4036175" cy="886376"/>
          </a:xfrm>
          <a:prstGeom prst="rect">
            <a:avLst/>
          </a:prstGeom>
          <a:ln>
            <a:noFill/>
          </a:ln>
          <a:effectLst>
            <a:outerShdw blurRad="292100" dist="139700" dir="2700000" algn="tl" rotWithShape="0">
              <a:srgbClr val="333333">
                <a:alpha val="65000"/>
              </a:srgbClr>
            </a:outerShdw>
          </a:effectLst>
        </p:spPr>
      </p:pic>
      <p:sp>
        <p:nvSpPr>
          <p:cNvPr id="2" name="Google Shape;110;p4">
            <a:extLst>
              <a:ext uri="{FF2B5EF4-FFF2-40B4-BE49-F238E27FC236}">
                <a16:creationId xmlns:a16="http://schemas.microsoft.com/office/drawing/2014/main" id="{5F7048BC-B1F2-7088-66C0-47D680C0F0CE}"/>
              </a:ext>
            </a:extLst>
          </p:cNvPr>
          <p:cNvSpPr txBox="1">
            <a:spLocks/>
          </p:cNvSpPr>
          <p:nvPr/>
        </p:nvSpPr>
        <p:spPr>
          <a:xfrm>
            <a:off x="7728559" y="3063238"/>
            <a:ext cx="3328805" cy="731523"/>
          </a:xfrm>
          <a:prstGeom prst="rect">
            <a:avLst/>
          </a:prstGeom>
          <a:noFill/>
          <a:ln>
            <a:noFill/>
          </a:ln>
        </p:spPr>
        <p:txBody>
          <a:bodyPr spcFirstLastPara="1" wrap="square" lIns="91425" tIns="45700" rIns="91425" bIns="45700" anchor="ctr" anchorCtr="0">
            <a:normAutofit/>
          </a:bodyPr>
          <a:lstStyle>
            <a:defPPr marR="0" lvl="0" algn="l" rtl="0">
              <a:lnSpc>
                <a:spcPct val="100000"/>
              </a:lnSpc>
              <a:spcBef>
                <a:spcPts val="0"/>
              </a:spcBef>
              <a:spcAft>
                <a:spcPts val="0"/>
              </a:spcAft>
            </a:defPPr>
            <a:lvl1pPr marR="0" lvl="0" algn="l" rtl="0">
              <a:lnSpc>
                <a:spcPct val="90000"/>
              </a:lnSpc>
              <a:spcBef>
                <a:spcPts val="0"/>
              </a:spcBef>
              <a:spcAft>
                <a:spcPts val="0"/>
              </a:spcAft>
              <a:buClr>
                <a:schemeClr val="dk1"/>
              </a:buClr>
              <a:buSzPts val="18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algn="ctr">
              <a:lnSpc>
                <a:spcPct val="100000"/>
              </a:lnSpc>
              <a:buClr>
                <a:srgbClr val="002060"/>
              </a:buClr>
              <a:buSzPts val="4400"/>
            </a:pPr>
            <a:r>
              <a:rPr lang="en-IN" sz="3200" dirty="0">
                <a:ln w="0"/>
                <a:solidFill>
                  <a:schemeClr val="tx1"/>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8. Invoice Table</a:t>
            </a:r>
          </a:p>
        </p:txBody>
      </p:sp>
      <p:sp>
        <p:nvSpPr>
          <p:cNvPr id="4" name="Google Shape;110;p4">
            <a:extLst>
              <a:ext uri="{FF2B5EF4-FFF2-40B4-BE49-F238E27FC236}">
                <a16:creationId xmlns:a16="http://schemas.microsoft.com/office/drawing/2014/main" id="{046A1C3A-FC2F-99E4-DA41-28A10FA6393D}"/>
              </a:ext>
            </a:extLst>
          </p:cNvPr>
          <p:cNvSpPr txBox="1">
            <a:spLocks/>
          </p:cNvSpPr>
          <p:nvPr/>
        </p:nvSpPr>
        <p:spPr>
          <a:xfrm>
            <a:off x="973537" y="3122488"/>
            <a:ext cx="3328804" cy="613024"/>
          </a:xfrm>
          <a:prstGeom prst="rect">
            <a:avLst/>
          </a:prstGeom>
          <a:noFill/>
          <a:ln>
            <a:noFill/>
          </a:ln>
        </p:spPr>
        <p:txBody>
          <a:bodyPr spcFirstLastPara="1" wrap="square" lIns="91425" tIns="45700" rIns="91425" bIns="45700" anchor="ctr" anchorCtr="0">
            <a:normAutofit/>
          </a:bodyPr>
          <a:lstStyle>
            <a:defPPr marR="0" lvl="0" algn="l" rtl="0">
              <a:lnSpc>
                <a:spcPct val="100000"/>
              </a:lnSpc>
              <a:spcBef>
                <a:spcPts val="0"/>
              </a:spcBef>
              <a:spcAft>
                <a:spcPts val="0"/>
              </a:spcAft>
            </a:defPPr>
            <a:lvl1pPr marR="0" lvl="0" algn="l" rtl="0">
              <a:lnSpc>
                <a:spcPct val="90000"/>
              </a:lnSpc>
              <a:spcBef>
                <a:spcPts val="0"/>
              </a:spcBef>
              <a:spcAft>
                <a:spcPts val="0"/>
              </a:spcAft>
              <a:buClr>
                <a:schemeClr val="dk1"/>
              </a:buClr>
              <a:buSzPts val="18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algn="ctr">
              <a:lnSpc>
                <a:spcPct val="100000"/>
              </a:lnSpc>
              <a:buClr>
                <a:srgbClr val="002060"/>
              </a:buClr>
              <a:buSzPts val="4400"/>
            </a:pPr>
            <a:r>
              <a:rPr lang="en-US" sz="3200" dirty="0">
                <a:ln w="0"/>
                <a:solidFill>
                  <a:schemeClr val="tx1"/>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7. Track Table</a:t>
            </a:r>
          </a:p>
        </p:txBody>
      </p:sp>
      <p:pic>
        <p:nvPicPr>
          <p:cNvPr id="6" name="Picture 5">
            <a:extLst>
              <a:ext uri="{FF2B5EF4-FFF2-40B4-BE49-F238E27FC236}">
                <a16:creationId xmlns:a16="http://schemas.microsoft.com/office/drawing/2014/main" id="{5F9B6D6B-5E28-A235-95D3-F106B195EAF1}"/>
              </a:ext>
            </a:extLst>
          </p:cNvPr>
          <p:cNvPicPr>
            <a:picLocks noChangeAspect="1"/>
          </p:cNvPicPr>
          <p:nvPr/>
        </p:nvPicPr>
        <p:blipFill>
          <a:blip r:embed="rId5"/>
          <a:stretch>
            <a:fillRect/>
          </a:stretch>
        </p:blipFill>
        <p:spPr>
          <a:xfrm>
            <a:off x="520784" y="3929627"/>
            <a:ext cx="4997599" cy="2329841"/>
          </a:xfrm>
          <a:prstGeom prst="rect">
            <a:avLst/>
          </a:prstGeom>
          <a:ln>
            <a:noFill/>
          </a:ln>
          <a:effectLst>
            <a:outerShdw blurRad="292100" dist="139700" dir="2700000" algn="tl" rotWithShape="0">
              <a:srgbClr val="333333">
                <a:alpha val="65000"/>
              </a:srgbClr>
            </a:outerShdw>
          </a:effectLst>
        </p:spPr>
      </p:pic>
      <p:pic>
        <p:nvPicPr>
          <p:cNvPr id="12" name="Picture 11">
            <a:extLst>
              <a:ext uri="{FF2B5EF4-FFF2-40B4-BE49-F238E27FC236}">
                <a16:creationId xmlns:a16="http://schemas.microsoft.com/office/drawing/2014/main" id="{495986EE-9A33-8C56-C708-D99E27B5CD59}"/>
              </a:ext>
            </a:extLst>
          </p:cNvPr>
          <p:cNvPicPr>
            <a:picLocks noChangeAspect="1"/>
          </p:cNvPicPr>
          <p:nvPr/>
        </p:nvPicPr>
        <p:blipFill>
          <a:blip r:embed="rId6"/>
          <a:stretch>
            <a:fillRect/>
          </a:stretch>
        </p:blipFill>
        <p:spPr>
          <a:xfrm>
            <a:off x="7356123" y="3929627"/>
            <a:ext cx="4315093" cy="1992147"/>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60532667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09">
          <a:extLst>
            <a:ext uri="{FF2B5EF4-FFF2-40B4-BE49-F238E27FC236}">
              <a16:creationId xmlns:a16="http://schemas.microsoft.com/office/drawing/2014/main" id="{91278EB9-4087-549B-7344-ADE3ABF0514D}"/>
            </a:ext>
          </a:extLst>
        </p:cNvPr>
        <p:cNvGrpSpPr/>
        <p:nvPr/>
      </p:nvGrpSpPr>
      <p:grpSpPr>
        <a:xfrm>
          <a:off x="0" y="0"/>
          <a:ext cx="0" cy="0"/>
          <a:chOff x="0" y="0"/>
          <a:chExt cx="0" cy="0"/>
        </a:xfrm>
      </p:grpSpPr>
      <p:sp>
        <p:nvSpPr>
          <p:cNvPr id="2" name="Google Shape;110;p4">
            <a:extLst>
              <a:ext uri="{FF2B5EF4-FFF2-40B4-BE49-F238E27FC236}">
                <a16:creationId xmlns:a16="http://schemas.microsoft.com/office/drawing/2014/main" id="{B0069EB4-ABF3-1B83-A782-AF2F68DBD19F}"/>
              </a:ext>
            </a:extLst>
          </p:cNvPr>
          <p:cNvSpPr txBox="1">
            <a:spLocks/>
          </p:cNvSpPr>
          <p:nvPr/>
        </p:nvSpPr>
        <p:spPr>
          <a:xfrm>
            <a:off x="576191" y="660298"/>
            <a:ext cx="4225455" cy="613024"/>
          </a:xfrm>
          <a:prstGeom prst="rect">
            <a:avLst/>
          </a:prstGeom>
          <a:noFill/>
          <a:ln>
            <a:noFill/>
          </a:ln>
        </p:spPr>
        <p:txBody>
          <a:bodyPr spcFirstLastPara="1" wrap="square" lIns="91425" tIns="45700" rIns="91425" bIns="45700" anchor="ctr" anchorCtr="0">
            <a:normAutofit/>
          </a:bodyPr>
          <a:lstStyle>
            <a:defPPr marR="0" lvl="0" algn="l" rtl="0">
              <a:lnSpc>
                <a:spcPct val="100000"/>
              </a:lnSpc>
              <a:spcBef>
                <a:spcPts val="0"/>
              </a:spcBef>
              <a:spcAft>
                <a:spcPts val="0"/>
              </a:spcAft>
            </a:defPPr>
            <a:lvl1pPr marR="0" lvl="0" algn="l" rtl="0">
              <a:lnSpc>
                <a:spcPct val="90000"/>
              </a:lnSpc>
              <a:spcBef>
                <a:spcPts val="0"/>
              </a:spcBef>
              <a:spcAft>
                <a:spcPts val="0"/>
              </a:spcAft>
              <a:buClr>
                <a:schemeClr val="dk1"/>
              </a:buClr>
              <a:buSzPts val="18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algn="ctr">
              <a:lnSpc>
                <a:spcPct val="100000"/>
              </a:lnSpc>
              <a:buClr>
                <a:srgbClr val="002060"/>
              </a:buClr>
              <a:buSzPts val="4400"/>
            </a:pPr>
            <a:r>
              <a:rPr lang="en-US" sz="3200" dirty="0">
                <a:ln w="0"/>
                <a:solidFill>
                  <a:schemeClr val="tx1"/>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9. Invoiceline Table</a:t>
            </a:r>
          </a:p>
        </p:txBody>
      </p:sp>
      <p:pic>
        <p:nvPicPr>
          <p:cNvPr id="5" name="Picture 4">
            <a:extLst>
              <a:ext uri="{FF2B5EF4-FFF2-40B4-BE49-F238E27FC236}">
                <a16:creationId xmlns:a16="http://schemas.microsoft.com/office/drawing/2014/main" id="{EDE1F9BC-6E8B-6675-660E-3CEB96514BB5}"/>
              </a:ext>
            </a:extLst>
          </p:cNvPr>
          <p:cNvPicPr>
            <a:picLocks noChangeAspect="1"/>
          </p:cNvPicPr>
          <p:nvPr/>
        </p:nvPicPr>
        <p:blipFill>
          <a:blip r:embed="rId3"/>
          <a:stretch>
            <a:fillRect/>
          </a:stretch>
        </p:blipFill>
        <p:spPr>
          <a:xfrm>
            <a:off x="398468" y="1416899"/>
            <a:ext cx="4741381" cy="1418143"/>
          </a:xfrm>
          <a:prstGeom prst="rect">
            <a:avLst/>
          </a:prstGeom>
          <a:ln>
            <a:noFill/>
          </a:ln>
          <a:effectLst>
            <a:outerShdw blurRad="292100" dist="139700" dir="2700000" algn="tl" rotWithShape="0">
              <a:srgbClr val="333333">
                <a:alpha val="65000"/>
              </a:srgbClr>
            </a:outerShdw>
          </a:effectLst>
        </p:spPr>
      </p:pic>
      <p:sp>
        <p:nvSpPr>
          <p:cNvPr id="7" name="Google Shape;110;p4">
            <a:extLst>
              <a:ext uri="{FF2B5EF4-FFF2-40B4-BE49-F238E27FC236}">
                <a16:creationId xmlns:a16="http://schemas.microsoft.com/office/drawing/2014/main" id="{3DF3910A-151E-A211-14CF-82E5B5E0670A}"/>
              </a:ext>
            </a:extLst>
          </p:cNvPr>
          <p:cNvSpPr txBox="1">
            <a:spLocks/>
          </p:cNvSpPr>
          <p:nvPr/>
        </p:nvSpPr>
        <p:spPr>
          <a:xfrm>
            <a:off x="7271943" y="601048"/>
            <a:ext cx="3893962" cy="731523"/>
          </a:xfrm>
          <a:prstGeom prst="rect">
            <a:avLst/>
          </a:prstGeom>
          <a:noFill/>
          <a:ln>
            <a:noFill/>
          </a:ln>
        </p:spPr>
        <p:txBody>
          <a:bodyPr spcFirstLastPara="1" wrap="square" lIns="91425" tIns="45700" rIns="91425" bIns="45700" anchor="ctr" anchorCtr="0">
            <a:normAutofit/>
          </a:bodyPr>
          <a:lstStyle>
            <a:defPPr marR="0" lvl="0" algn="l" rtl="0">
              <a:lnSpc>
                <a:spcPct val="100000"/>
              </a:lnSpc>
              <a:spcBef>
                <a:spcPts val="0"/>
              </a:spcBef>
              <a:spcAft>
                <a:spcPts val="0"/>
              </a:spcAft>
            </a:defPPr>
            <a:lvl1pPr marR="0" lvl="0" algn="l" rtl="0">
              <a:lnSpc>
                <a:spcPct val="90000"/>
              </a:lnSpc>
              <a:spcBef>
                <a:spcPts val="0"/>
              </a:spcBef>
              <a:spcAft>
                <a:spcPts val="0"/>
              </a:spcAft>
              <a:buClr>
                <a:schemeClr val="dk1"/>
              </a:buClr>
              <a:buSzPts val="18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algn="ctr">
              <a:lnSpc>
                <a:spcPct val="100000"/>
              </a:lnSpc>
              <a:buClr>
                <a:srgbClr val="002060"/>
              </a:buClr>
              <a:buSzPts val="4400"/>
            </a:pPr>
            <a:r>
              <a:rPr lang="en-IN" sz="3200" dirty="0">
                <a:ln w="0"/>
                <a:solidFill>
                  <a:schemeClr val="tx1"/>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10. Playlist Table</a:t>
            </a:r>
          </a:p>
        </p:txBody>
      </p:sp>
      <p:pic>
        <p:nvPicPr>
          <p:cNvPr id="9" name="Picture 8">
            <a:extLst>
              <a:ext uri="{FF2B5EF4-FFF2-40B4-BE49-F238E27FC236}">
                <a16:creationId xmlns:a16="http://schemas.microsoft.com/office/drawing/2014/main" id="{3138B7A9-7DED-4405-5CD5-F3213B16ABE5}"/>
              </a:ext>
            </a:extLst>
          </p:cNvPr>
          <p:cNvPicPr>
            <a:picLocks noChangeAspect="1"/>
          </p:cNvPicPr>
          <p:nvPr/>
        </p:nvPicPr>
        <p:blipFill>
          <a:blip r:embed="rId4"/>
          <a:stretch>
            <a:fillRect/>
          </a:stretch>
        </p:blipFill>
        <p:spPr>
          <a:xfrm>
            <a:off x="6915966" y="1713232"/>
            <a:ext cx="4919899" cy="829408"/>
          </a:xfrm>
          <a:prstGeom prst="rect">
            <a:avLst/>
          </a:prstGeom>
          <a:ln>
            <a:noFill/>
          </a:ln>
          <a:effectLst>
            <a:outerShdw blurRad="292100" dist="139700" dir="2700000" algn="tl" rotWithShape="0">
              <a:srgbClr val="333333">
                <a:alpha val="65000"/>
              </a:srgbClr>
            </a:outerShdw>
          </a:effectLst>
        </p:spPr>
      </p:pic>
      <p:sp>
        <p:nvSpPr>
          <p:cNvPr id="110" name="Google Shape;110;p4">
            <a:extLst>
              <a:ext uri="{FF2B5EF4-FFF2-40B4-BE49-F238E27FC236}">
                <a16:creationId xmlns:a16="http://schemas.microsoft.com/office/drawing/2014/main" id="{CB8BEB4B-ED75-8EC2-8BAC-99E3D555E579}"/>
              </a:ext>
            </a:extLst>
          </p:cNvPr>
          <p:cNvSpPr txBox="1">
            <a:spLocks noGrp="1"/>
          </p:cNvSpPr>
          <p:nvPr>
            <p:ph type="title"/>
          </p:nvPr>
        </p:nvSpPr>
        <p:spPr>
          <a:xfrm>
            <a:off x="3708964" y="3430241"/>
            <a:ext cx="4717628" cy="929078"/>
          </a:xfrm>
          <a:prstGeom prst="rect">
            <a:avLst/>
          </a:prstGeom>
          <a:noFill/>
          <a:ln>
            <a:noFill/>
          </a:ln>
        </p:spPr>
        <p:txBody>
          <a:bodyPr spcFirstLastPara="1" wrap="square" lIns="91425" tIns="45700" rIns="91425" bIns="45700" anchor="ctr" anchorCtr="0">
            <a:normAutofit/>
          </a:bodyPr>
          <a:lstStyle/>
          <a:p>
            <a:pPr lvl="0" algn="ctr" rtl="0">
              <a:lnSpc>
                <a:spcPct val="100000"/>
              </a:lnSpc>
              <a:spcBef>
                <a:spcPts val="0"/>
              </a:spcBef>
              <a:spcAft>
                <a:spcPts val="0"/>
              </a:spcAft>
              <a:buClr>
                <a:srgbClr val="002060"/>
              </a:buClr>
              <a:buSzPts val="4400"/>
            </a:pPr>
            <a:r>
              <a:rPr lang="en-IN" sz="3200" dirty="0">
                <a:ln w="0"/>
                <a:solidFill>
                  <a:schemeClr val="tx1"/>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11. Playlisttrack Table</a:t>
            </a:r>
            <a:endParaRPr sz="3200" dirty="0">
              <a:ln w="0"/>
              <a:solidFill>
                <a:schemeClr val="tx1"/>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endParaRPr>
          </a:p>
        </p:txBody>
      </p:sp>
      <p:pic>
        <p:nvPicPr>
          <p:cNvPr id="8" name="Picture 7">
            <a:extLst>
              <a:ext uri="{FF2B5EF4-FFF2-40B4-BE49-F238E27FC236}">
                <a16:creationId xmlns:a16="http://schemas.microsoft.com/office/drawing/2014/main" id="{E21C6A36-BC0C-4D40-614F-465D0AD8B9A5}"/>
              </a:ext>
            </a:extLst>
          </p:cNvPr>
          <p:cNvPicPr>
            <a:picLocks noChangeAspect="1"/>
          </p:cNvPicPr>
          <p:nvPr/>
        </p:nvPicPr>
        <p:blipFill>
          <a:blip r:embed="rId5"/>
          <a:stretch>
            <a:fillRect/>
          </a:stretch>
        </p:blipFill>
        <p:spPr>
          <a:xfrm>
            <a:off x="3838337" y="4798337"/>
            <a:ext cx="4440200" cy="897692"/>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301384502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Shape 109">
          <a:extLst>
            <a:ext uri="{FF2B5EF4-FFF2-40B4-BE49-F238E27FC236}">
              <a16:creationId xmlns:a16="http://schemas.microsoft.com/office/drawing/2014/main" id="{55F29B9A-8694-0106-C6EF-855C63E667CD}"/>
            </a:ext>
          </a:extLst>
        </p:cNvPr>
        <p:cNvGrpSpPr/>
        <p:nvPr/>
      </p:nvGrpSpPr>
      <p:grpSpPr>
        <a:xfrm>
          <a:off x="0" y="0"/>
          <a:ext cx="0" cy="0"/>
          <a:chOff x="0" y="0"/>
          <a:chExt cx="0" cy="0"/>
        </a:xfrm>
      </p:grpSpPr>
      <p:sp useBgFill="1">
        <p:nvSpPr>
          <p:cNvPr id="155" name="Rectangle 154">
            <a:extLst>
              <a:ext uri="{FF2B5EF4-FFF2-40B4-BE49-F238E27FC236}">
                <a16:creationId xmlns:a16="http://schemas.microsoft.com/office/drawing/2014/main" id="{47942995-B07F-4636-9A06-C6A104B260A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0" name="Google Shape;110;p4">
            <a:extLst>
              <a:ext uri="{FF2B5EF4-FFF2-40B4-BE49-F238E27FC236}">
                <a16:creationId xmlns:a16="http://schemas.microsoft.com/office/drawing/2014/main" id="{A561DBA6-A9E6-D0F6-644E-D100231320DE}"/>
              </a:ext>
            </a:extLst>
          </p:cNvPr>
          <p:cNvSpPr txBox="1">
            <a:spLocks noGrp="1"/>
          </p:cNvSpPr>
          <p:nvPr>
            <p:ph type="title"/>
          </p:nvPr>
        </p:nvSpPr>
        <p:spPr>
          <a:xfrm>
            <a:off x="1113810" y="2960716"/>
            <a:ext cx="4036334" cy="2387600"/>
          </a:xfrm>
          <a:prstGeom prst="rect">
            <a:avLst/>
          </a:prstGeom>
        </p:spPr>
        <p:txBody>
          <a:bodyPr spcFirstLastPara="1" vert="horz" lIns="91440" tIns="45720" rIns="91440" bIns="45720" rtlCol="0" anchor="t" anchorCtr="0">
            <a:normAutofit/>
          </a:bodyPr>
          <a:lstStyle/>
          <a:p>
            <a:pPr marL="0" lvl="0" indent="0">
              <a:spcBef>
                <a:spcPct val="0"/>
              </a:spcBef>
              <a:spcAft>
                <a:spcPts val="0"/>
              </a:spcAft>
              <a:buClr>
                <a:srgbClr val="FF0000"/>
              </a:buClr>
              <a:buSzPts val="4400"/>
            </a:pPr>
            <a:r>
              <a:rPr lang="en-US" sz="5400" b="1" kern="1200" dirty="0">
                <a:solidFill>
                  <a:schemeClr val="tx1"/>
                </a:solidFill>
                <a:latin typeface="+mj-lt"/>
                <a:ea typeface="+mj-ea"/>
                <a:cs typeface="+mj-cs"/>
              </a:rPr>
              <a:t>ER Diagram</a:t>
            </a:r>
          </a:p>
        </p:txBody>
      </p:sp>
      <p:grpSp>
        <p:nvGrpSpPr>
          <p:cNvPr id="157" name="Group 156">
            <a:extLst>
              <a:ext uri="{FF2B5EF4-FFF2-40B4-BE49-F238E27FC236}">
                <a16:creationId xmlns:a16="http://schemas.microsoft.com/office/drawing/2014/main" id="{032D8612-31EB-44CF-A1D0-14FD4C70542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2984992"/>
            <a:ext cx="731521" cy="673460"/>
            <a:chOff x="3940602" y="308034"/>
            <a:chExt cx="2116791" cy="3428999"/>
          </a:xfrm>
          <a:solidFill>
            <a:schemeClr val="accent4"/>
          </a:solidFill>
        </p:grpSpPr>
        <p:sp>
          <p:nvSpPr>
            <p:cNvPr id="158" name="Rectangle 157">
              <a:extLst>
                <a:ext uri="{FF2B5EF4-FFF2-40B4-BE49-F238E27FC236}">
                  <a16:creationId xmlns:a16="http://schemas.microsoft.com/office/drawing/2014/main" id="{F19A4A0F-1B59-4DB0-9764-D10936E9877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40602"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9" name="Rectangle 158">
              <a:extLst>
                <a:ext uri="{FF2B5EF4-FFF2-40B4-BE49-F238E27FC236}">
                  <a16:creationId xmlns:a16="http://schemas.microsoft.com/office/drawing/2014/main" id="{F399A70F-F8CD-4992-9EF5-6CF15472E73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15626"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0" name="Rectangle 159">
              <a:extLst>
                <a:ext uri="{FF2B5EF4-FFF2-40B4-BE49-F238E27FC236}">
                  <a16:creationId xmlns:a16="http://schemas.microsoft.com/office/drawing/2014/main" id="{48F4FEDC-6D80-458C-A665-075D9B9500F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490650"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62" name="Rectangle 161">
            <a:extLst>
              <a:ext uri="{FF2B5EF4-FFF2-40B4-BE49-F238E27FC236}">
                <a16:creationId xmlns:a16="http://schemas.microsoft.com/office/drawing/2014/main" id="{B81933D1-5615-42C7-9C0B-4EB7105CCE2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0697670" y="0"/>
            <a:ext cx="1494330" cy="685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a:extLst>
              <a:ext uri="{FF2B5EF4-FFF2-40B4-BE49-F238E27FC236}">
                <a16:creationId xmlns:a16="http://schemas.microsoft.com/office/drawing/2014/main" id="{C3AACC73-CB03-E670-D4DB-80C4C0E00F0F}"/>
              </a:ext>
            </a:extLst>
          </p:cNvPr>
          <p:cNvPicPr>
            <a:picLocks noChangeAspect="1"/>
          </p:cNvPicPr>
          <p:nvPr/>
        </p:nvPicPr>
        <p:blipFill>
          <a:blip r:embed="rId3"/>
          <a:stretch>
            <a:fillRect/>
          </a:stretch>
        </p:blipFill>
        <p:spPr>
          <a:xfrm>
            <a:off x="4074424" y="532672"/>
            <a:ext cx="7375311" cy="5821488"/>
          </a:xfrm>
          <a:prstGeom prst="rect">
            <a:avLst/>
          </a:prstGeom>
        </p:spPr>
      </p:pic>
      <p:pic>
        <p:nvPicPr>
          <p:cNvPr id="4" name="Picture 3" descr="A logo with a couple of people&#10;&#10;AI-generated content may be incorrect.">
            <a:extLst>
              <a:ext uri="{FF2B5EF4-FFF2-40B4-BE49-F238E27FC236}">
                <a16:creationId xmlns:a16="http://schemas.microsoft.com/office/drawing/2014/main" id="{AEC948E8-6987-BD76-CDD4-582F43846D36}"/>
              </a:ext>
            </a:extLst>
          </p:cNvPr>
          <p:cNvPicPr>
            <a:picLocks noChangeAspect="1"/>
          </p:cNvPicPr>
          <p:nvPr/>
        </p:nvPicPr>
        <p:blipFill>
          <a:blip r:embed="rId4"/>
          <a:stretch>
            <a:fillRect/>
          </a:stretch>
        </p:blipFill>
        <p:spPr>
          <a:xfrm>
            <a:off x="8979112" y="6332734"/>
            <a:ext cx="3053206" cy="520885"/>
          </a:xfrm>
          <a:prstGeom prst="rect">
            <a:avLst/>
          </a:prstGeom>
        </p:spPr>
      </p:pic>
    </p:spTree>
    <p:extLst>
      <p:ext uri="{BB962C8B-B14F-4D97-AF65-F5344CB8AC3E}">
        <p14:creationId xmlns:p14="http://schemas.microsoft.com/office/powerpoint/2010/main" val="50341594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Shape 109">
          <a:extLst>
            <a:ext uri="{FF2B5EF4-FFF2-40B4-BE49-F238E27FC236}">
              <a16:creationId xmlns:a16="http://schemas.microsoft.com/office/drawing/2014/main" id="{BAEBD39B-429F-C864-D603-41FDEACCD88C}"/>
            </a:ext>
          </a:extLst>
        </p:cNvPr>
        <p:cNvGrpSpPr/>
        <p:nvPr/>
      </p:nvGrpSpPr>
      <p:grpSpPr>
        <a:xfrm>
          <a:off x="0" y="0"/>
          <a:ext cx="0" cy="0"/>
          <a:chOff x="0" y="0"/>
          <a:chExt cx="0" cy="0"/>
        </a:xfrm>
      </p:grpSpPr>
      <p:sp useBgFill="1">
        <p:nvSpPr>
          <p:cNvPr id="115" name="Rectangle 114">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7" name="Freeform: Shape 116">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167271"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0" name="Google Shape;110;p4">
            <a:extLst>
              <a:ext uri="{FF2B5EF4-FFF2-40B4-BE49-F238E27FC236}">
                <a16:creationId xmlns:a16="http://schemas.microsoft.com/office/drawing/2014/main" id="{722EA84E-B62E-1496-E7C5-A124E8E0520F}"/>
              </a:ext>
            </a:extLst>
          </p:cNvPr>
          <p:cNvSpPr txBox="1">
            <a:spLocks noGrp="1"/>
          </p:cNvSpPr>
          <p:nvPr>
            <p:ph type="title"/>
          </p:nvPr>
        </p:nvSpPr>
        <p:spPr>
          <a:xfrm>
            <a:off x="686834" y="1153572"/>
            <a:ext cx="3200400" cy="4461163"/>
          </a:xfrm>
          <a:prstGeom prst="rect">
            <a:avLst/>
          </a:prstGeom>
        </p:spPr>
        <p:txBody>
          <a:bodyPr spcFirstLastPara="1" lIns="91425" tIns="45700" rIns="91425" bIns="45700" anchorCtr="0">
            <a:normAutofit/>
          </a:bodyPr>
          <a:lstStyle/>
          <a:p>
            <a:pPr marL="0" lvl="0" indent="0" rtl="0">
              <a:spcBef>
                <a:spcPts val="0"/>
              </a:spcBef>
              <a:spcAft>
                <a:spcPts val="0"/>
              </a:spcAft>
              <a:buClr>
                <a:srgbClr val="FF0000"/>
              </a:buClr>
              <a:buSzPts val="4400"/>
              <a:buFont typeface="Calibri"/>
              <a:buNone/>
            </a:pPr>
            <a:r>
              <a:rPr lang="en-US" b="1" dirty="0">
                <a:solidFill>
                  <a:srgbClr val="FFFFFF"/>
                </a:solidFill>
                <a:latin typeface="Times New Roman" panose="02020603050405020304" pitchFamily="18" charset="0"/>
                <a:cs typeface="Times New Roman" panose="02020603050405020304" pitchFamily="18" charset="0"/>
              </a:rPr>
              <a:t>Analysis</a:t>
            </a:r>
          </a:p>
        </p:txBody>
      </p:sp>
      <p:sp>
        <p:nvSpPr>
          <p:cNvPr id="119" name="Arc 118">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Text Placeholder 2">
            <a:extLst>
              <a:ext uri="{FF2B5EF4-FFF2-40B4-BE49-F238E27FC236}">
                <a16:creationId xmlns:a16="http://schemas.microsoft.com/office/drawing/2014/main" id="{5D057416-805E-6547-F5AB-C3A079A37344}"/>
              </a:ext>
            </a:extLst>
          </p:cNvPr>
          <p:cNvSpPr>
            <a:spLocks noGrp="1"/>
          </p:cNvSpPr>
          <p:nvPr>
            <p:ph type="body" idx="1"/>
          </p:nvPr>
        </p:nvSpPr>
        <p:spPr>
          <a:xfrm>
            <a:off x="4184550" y="223482"/>
            <a:ext cx="7169249" cy="6507662"/>
          </a:xfrm>
        </p:spPr>
        <p:txBody>
          <a:bodyPr spcFirstLastPara="1" wrap="square" lIns="91425" tIns="45700" rIns="91425" bIns="45700" anchor="ctr" anchorCtr="0">
            <a:noAutofit/>
          </a:bodyPr>
          <a:lstStyle/>
          <a:p>
            <a:pPr>
              <a:buClr>
                <a:srgbClr val="C00000"/>
              </a:buClr>
              <a:buFont typeface="Wingdings"/>
              <a:buChar char="ü"/>
            </a:pPr>
            <a:r>
              <a:rPr lang="en-US" sz="1300" dirty="0">
                <a:latin typeface="Times New Roman"/>
                <a:cs typeface="Times New Roman"/>
              </a:rPr>
              <a:t>Who is the senior most employee based on job title?</a:t>
            </a:r>
            <a:endParaRPr lang="en-IN" sz="1300" dirty="0">
              <a:latin typeface="Times New Roman"/>
              <a:cs typeface="Times New Roman"/>
            </a:endParaRPr>
          </a:p>
          <a:p>
            <a:pPr>
              <a:buClr>
                <a:srgbClr val="C00000"/>
              </a:buClr>
              <a:buFont typeface="Wingdings"/>
              <a:buChar char="ü"/>
            </a:pPr>
            <a:r>
              <a:rPr lang="en-IN" sz="1300" dirty="0">
                <a:latin typeface="Times New Roman"/>
                <a:cs typeface="Times New Roman"/>
              </a:rPr>
              <a:t>Which countries have the most Invoices?</a:t>
            </a:r>
          </a:p>
          <a:p>
            <a:pPr>
              <a:buClr>
                <a:srgbClr val="C00000"/>
              </a:buClr>
              <a:buFont typeface="Wingdings"/>
              <a:buChar char="ü"/>
            </a:pPr>
            <a:r>
              <a:rPr lang="en-IN" sz="1300" dirty="0">
                <a:latin typeface="Times New Roman"/>
                <a:cs typeface="Times New Roman"/>
              </a:rPr>
              <a:t>What are the top 3 values of total invoice?</a:t>
            </a:r>
          </a:p>
          <a:p>
            <a:pPr>
              <a:buClr>
                <a:srgbClr val="C00000"/>
              </a:buClr>
              <a:buFont typeface="Wingdings"/>
              <a:buChar char="ü"/>
            </a:pPr>
            <a:r>
              <a:rPr lang="en-IN" sz="1300" dirty="0">
                <a:latin typeface="Times New Roman"/>
                <a:cs typeface="Times New Roman"/>
              </a:rPr>
              <a:t>Which city has the best customers? - We would like to throw a promotional Music Festival in the city we made the most money. Write a query that returns one city that has the highest sum of invoice totals. Return both the city name &amp; sum of all invoice totals</a:t>
            </a:r>
          </a:p>
          <a:p>
            <a:pPr>
              <a:buClr>
                <a:srgbClr val="C00000"/>
              </a:buClr>
              <a:buFont typeface="Wingdings"/>
              <a:buChar char="ü"/>
            </a:pPr>
            <a:r>
              <a:rPr lang="en-IN" sz="1300" dirty="0">
                <a:latin typeface="Times New Roman"/>
                <a:cs typeface="Times New Roman"/>
              </a:rPr>
              <a:t>Who is the best customer? - The customer who has spent the most money will be declared the best customer. Write a query that returns the person who has spent the most money</a:t>
            </a:r>
          </a:p>
          <a:p>
            <a:pPr>
              <a:buClr>
                <a:srgbClr val="C00000"/>
              </a:buClr>
              <a:buFont typeface="Wingdings"/>
              <a:buChar char="ü"/>
            </a:pPr>
            <a:r>
              <a:rPr lang="en-IN" sz="1300" dirty="0">
                <a:latin typeface="Times New Roman"/>
                <a:cs typeface="Times New Roman"/>
              </a:rPr>
              <a:t>Write a query to return the email, first name, last name, &amp; Genre of all Rock Music listeners. Return your list ordered alphabetically by email starting with A</a:t>
            </a:r>
          </a:p>
          <a:p>
            <a:pPr>
              <a:buClr>
                <a:srgbClr val="C00000"/>
              </a:buClr>
              <a:buFont typeface="Wingdings"/>
              <a:buChar char="ü"/>
            </a:pPr>
            <a:r>
              <a:rPr lang="en-IN" sz="1300" dirty="0">
                <a:latin typeface="Times New Roman"/>
                <a:cs typeface="Times New Roman"/>
              </a:rPr>
              <a:t>Let's invite the artists who have written the most rock music in our dataset. Write a query that returns the Artist name and total track count of the top 10 rock bands </a:t>
            </a:r>
          </a:p>
          <a:p>
            <a:pPr>
              <a:buClr>
                <a:srgbClr val="C00000"/>
              </a:buClr>
              <a:buFont typeface="Wingdings"/>
              <a:buChar char="ü"/>
            </a:pPr>
            <a:r>
              <a:rPr lang="en-IN" sz="1300" dirty="0">
                <a:latin typeface="Times New Roman"/>
                <a:cs typeface="Times New Roman"/>
              </a:rPr>
              <a:t>Return all the track names that have a song length longer than the average song length.- Return the Name and Milliseconds for each track. Order by the song length, with the longest songs listed first</a:t>
            </a:r>
          </a:p>
          <a:p>
            <a:pPr>
              <a:buClr>
                <a:srgbClr val="C00000"/>
              </a:buClr>
              <a:buFont typeface="Wingdings"/>
              <a:buChar char="ü"/>
            </a:pPr>
            <a:r>
              <a:rPr lang="en-IN" sz="1300" dirty="0">
                <a:latin typeface="Times New Roman"/>
                <a:cs typeface="Times New Roman"/>
              </a:rPr>
              <a:t>Find how much amount is spent by each customer on artists? Write a query to return customer name, artist name and total spent </a:t>
            </a:r>
          </a:p>
          <a:p>
            <a:pPr>
              <a:buClr>
                <a:srgbClr val="C00000"/>
              </a:buClr>
              <a:buFont typeface="Wingdings"/>
              <a:buChar char="ü"/>
            </a:pPr>
            <a:r>
              <a:rPr lang="en-IN" sz="1300" dirty="0">
                <a:latin typeface="Times New Roman"/>
                <a:cs typeface="Times New Roman"/>
              </a:rPr>
              <a:t> We want to find out the most popular music Genre for each country. We determine the most popular genre as the genre with the highest amount of purchases. Write a query that returns each country along with the top Genre. For countries where the maximum number of purchases is shared, return all Genres</a:t>
            </a:r>
          </a:p>
          <a:p>
            <a:pPr>
              <a:buClr>
                <a:srgbClr val="C00000"/>
              </a:buClr>
              <a:buFont typeface="Wingdings"/>
              <a:buChar char="ü"/>
            </a:pPr>
            <a:r>
              <a:rPr lang="en-IN" sz="1300" dirty="0">
                <a:latin typeface="Times New Roman"/>
                <a:cs typeface="Times New Roman"/>
              </a:rPr>
              <a:t>Write a query that determines the customer that has spent the most on music for each country. Write a query that returns the country along with the top customer and how much they spent. For countries where the top amount spent is shared, provide all customers who spent this amount</a:t>
            </a:r>
          </a:p>
          <a:p>
            <a:pPr>
              <a:buClr>
                <a:srgbClr val="C00000"/>
              </a:buClr>
              <a:buFont typeface="Wingdings"/>
              <a:buChar char="ü"/>
            </a:pPr>
            <a:endParaRPr lang="en-IN" sz="1100">
              <a:latin typeface="Times New Roman" panose="02020603050405020304" pitchFamily="18" charset="0"/>
              <a:ea typeface="Calibri" panose="020F0502020204030204" pitchFamily="34" charset="0"/>
              <a:cs typeface="Times New Roman" panose="02020603050405020304" pitchFamily="18" charset="0"/>
            </a:endParaRPr>
          </a:p>
        </p:txBody>
      </p:sp>
      <p:pic>
        <p:nvPicPr>
          <p:cNvPr id="4" name="Picture 3" descr="A logo with a couple of people&#10;&#10;AI-generated content may be incorrect.">
            <a:extLst>
              <a:ext uri="{FF2B5EF4-FFF2-40B4-BE49-F238E27FC236}">
                <a16:creationId xmlns:a16="http://schemas.microsoft.com/office/drawing/2014/main" id="{488D7D87-9662-0C6A-A246-44ED1211EC30}"/>
              </a:ext>
            </a:extLst>
          </p:cNvPr>
          <p:cNvPicPr>
            <a:picLocks noChangeAspect="1"/>
          </p:cNvPicPr>
          <p:nvPr/>
        </p:nvPicPr>
        <p:blipFill>
          <a:blip r:embed="rId3"/>
          <a:stretch>
            <a:fillRect/>
          </a:stretch>
        </p:blipFill>
        <p:spPr>
          <a:xfrm>
            <a:off x="9378634" y="6078333"/>
            <a:ext cx="2653684" cy="775286"/>
          </a:xfrm>
          <a:prstGeom prst="rect">
            <a:avLst/>
          </a:prstGeom>
        </p:spPr>
      </p:pic>
    </p:spTree>
    <p:extLst>
      <p:ext uri="{BB962C8B-B14F-4D97-AF65-F5344CB8AC3E}">
        <p14:creationId xmlns:p14="http://schemas.microsoft.com/office/powerpoint/2010/main" val="296719880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09">
          <a:extLst>
            <a:ext uri="{FF2B5EF4-FFF2-40B4-BE49-F238E27FC236}">
              <a16:creationId xmlns:a16="http://schemas.microsoft.com/office/drawing/2014/main" id="{D5A0E50A-1301-9A7C-384C-7C8512584445}"/>
            </a:ext>
          </a:extLst>
        </p:cNvPr>
        <p:cNvGrpSpPr/>
        <p:nvPr/>
      </p:nvGrpSpPr>
      <p:grpSpPr>
        <a:xfrm>
          <a:off x="0" y="0"/>
          <a:ext cx="0" cy="0"/>
          <a:chOff x="0" y="0"/>
          <a:chExt cx="0" cy="0"/>
        </a:xfrm>
      </p:grpSpPr>
      <p:sp>
        <p:nvSpPr>
          <p:cNvPr id="110" name="Google Shape;110;p4">
            <a:extLst>
              <a:ext uri="{FF2B5EF4-FFF2-40B4-BE49-F238E27FC236}">
                <a16:creationId xmlns:a16="http://schemas.microsoft.com/office/drawing/2014/main" id="{0DDB211F-7178-2066-94DC-C6B721A2076A}"/>
              </a:ext>
            </a:extLst>
          </p:cNvPr>
          <p:cNvSpPr txBox="1">
            <a:spLocks noGrp="1"/>
          </p:cNvSpPr>
          <p:nvPr>
            <p:ph type="title"/>
          </p:nvPr>
        </p:nvSpPr>
        <p:spPr>
          <a:xfrm>
            <a:off x="499516" y="208057"/>
            <a:ext cx="7536991" cy="1495881"/>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rgbClr val="FF0000"/>
              </a:buClr>
              <a:buSzPts val="4400"/>
              <a:buFont typeface="Calibri"/>
              <a:buNone/>
            </a:pPr>
            <a:r>
              <a:rPr lang="en-IN" sz="2400" b="1" dirty="0">
                <a:solidFill>
                  <a:srgbClr val="FF0000"/>
                </a:solidFill>
                <a:latin typeface="Times New Roman"/>
                <a:cs typeface="Times New Roman"/>
              </a:rPr>
              <a:t>1. Who is the senior most employee based on job title?</a:t>
            </a:r>
            <a:br>
              <a:rPr lang="en-IN" sz="2400" b="1" dirty="0">
                <a:latin typeface="Times New Roman" panose="02020603050405020304" pitchFamily="18" charset="0"/>
                <a:cs typeface="Times New Roman" panose="02020603050405020304" pitchFamily="18" charset="0"/>
              </a:rPr>
            </a:br>
            <a:r>
              <a:rPr lang="en-IN" sz="2400" b="1" dirty="0">
                <a:solidFill>
                  <a:schemeClr val="tx1"/>
                </a:solidFill>
                <a:latin typeface="Times New Roman"/>
                <a:cs typeface="Times New Roman"/>
              </a:rPr>
              <a:t>(Senior Most Employee </a:t>
            </a:r>
            <a:r>
              <a:rPr lang="en-IN" sz="2400" b="1" dirty="0">
                <a:solidFill>
                  <a:schemeClr val="tx1"/>
                </a:solidFill>
                <a:latin typeface="Times New Roman"/>
                <a:cs typeface="Times New Roman"/>
                <a:sym typeface="Wingdings" panose="05000000000000000000" pitchFamily="2" charset="2"/>
              </a:rPr>
              <a:t> Madhan Mohan [S.G.M]</a:t>
            </a:r>
            <a:r>
              <a:rPr lang="en-IN" sz="2400" b="1" dirty="0">
                <a:solidFill>
                  <a:schemeClr val="tx1"/>
                </a:solidFill>
                <a:latin typeface="Times New Roman"/>
                <a:cs typeface="Times New Roman"/>
              </a:rPr>
              <a:t>)</a:t>
            </a:r>
          </a:p>
        </p:txBody>
      </p:sp>
      <p:pic>
        <p:nvPicPr>
          <p:cNvPr id="10" name="Picture 9" descr="A white background with black text&#10;&#10;AI-generated content may be incorrect.">
            <a:extLst>
              <a:ext uri="{FF2B5EF4-FFF2-40B4-BE49-F238E27FC236}">
                <a16:creationId xmlns:a16="http://schemas.microsoft.com/office/drawing/2014/main" id="{A3CC50C4-8110-5A15-95F0-84AB084FF883}"/>
              </a:ext>
            </a:extLst>
          </p:cNvPr>
          <p:cNvPicPr>
            <a:picLocks noChangeAspect="1"/>
          </p:cNvPicPr>
          <p:nvPr/>
        </p:nvPicPr>
        <p:blipFill>
          <a:blip r:embed="rId3"/>
          <a:stretch>
            <a:fillRect/>
          </a:stretch>
        </p:blipFill>
        <p:spPr>
          <a:xfrm>
            <a:off x="718457" y="1708379"/>
            <a:ext cx="7467600" cy="1492701"/>
          </a:xfrm>
          <a:prstGeom prst="rect">
            <a:avLst/>
          </a:prstGeom>
        </p:spPr>
      </p:pic>
      <p:pic>
        <p:nvPicPr>
          <p:cNvPr id="11" name="Picture 10" descr="A close-up of a text&#10;&#10;AI-generated content may be incorrect.">
            <a:extLst>
              <a:ext uri="{FF2B5EF4-FFF2-40B4-BE49-F238E27FC236}">
                <a16:creationId xmlns:a16="http://schemas.microsoft.com/office/drawing/2014/main" id="{6FC85417-F2E8-BE01-F425-015B2CFD89FB}"/>
              </a:ext>
            </a:extLst>
          </p:cNvPr>
          <p:cNvPicPr>
            <a:picLocks noChangeAspect="1"/>
          </p:cNvPicPr>
          <p:nvPr/>
        </p:nvPicPr>
        <p:blipFill>
          <a:blip r:embed="rId4"/>
          <a:stretch>
            <a:fillRect/>
          </a:stretch>
        </p:blipFill>
        <p:spPr>
          <a:xfrm>
            <a:off x="8497660" y="1711086"/>
            <a:ext cx="3600450" cy="1496783"/>
          </a:xfrm>
          <a:prstGeom prst="rect">
            <a:avLst/>
          </a:prstGeom>
        </p:spPr>
      </p:pic>
      <p:sp>
        <p:nvSpPr>
          <p:cNvPr id="2" name="TextBox 1">
            <a:extLst>
              <a:ext uri="{FF2B5EF4-FFF2-40B4-BE49-F238E27FC236}">
                <a16:creationId xmlns:a16="http://schemas.microsoft.com/office/drawing/2014/main" id="{2F3419FB-E6B1-5073-C7B8-6DAD3EB01061}"/>
              </a:ext>
            </a:extLst>
          </p:cNvPr>
          <p:cNvSpPr txBox="1"/>
          <p:nvPr/>
        </p:nvSpPr>
        <p:spPr>
          <a:xfrm>
            <a:off x="702965" y="3848531"/>
            <a:ext cx="9740380" cy="141577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2400" b="1" dirty="0">
                <a:solidFill>
                  <a:srgbClr val="FF0000"/>
                </a:solidFill>
                <a:latin typeface="Times New Roman"/>
                <a:cs typeface="Times New Roman"/>
              </a:rPr>
              <a:t>Insight:</a:t>
            </a:r>
            <a:r>
              <a:rPr lang="en-US" sz="2400" dirty="0">
                <a:latin typeface="Times New Roman"/>
                <a:cs typeface="Times New Roman"/>
              </a:rPr>
              <a:t> </a:t>
            </a:r>
            <a:r>
              <a:rPr lang="en-US" sz="2400" b="1" dirty="0">
                <a:latin typeface="Times New Roman"/>
                <a:cs typeface="Times New Roman"/>
              </a:rPr>
              <a:t>The analysis shows that Madhan Mohan holds the highest position (Senior </a:t>
            </a:r>
            <a:r>
              <a:rPr lang="en-US" sz="2400" b="1">
                <a:latin typeface="Times New Roman"/>
                <a:cs typeface="Times New Roman"/>
              </a:rPr>
              <a:t>General Manager</a:t>
            </a:r>
            <a:r>
              <a:rPr lang="en-US" sz="2400" b="1" dirty="0">
                <a:latin typeface="Times New Roman"/>
                <a:cs typeface="Times New Roman"/>
              </a:rPr>
              <a:t>), making him the most senior employee in the organization.</a:t>
            </a:r>
            <a:endParaRPr lang="en-US" sz="2400" dirty="0">
              <a:latin typeface="Times New Roman"/>
              <a:cs typeface="Times New Roman"/>
            </a:endParaRPr>
          </a:p>
          <a:p>
            <a:pPr algn="l"/>
            <a:endParaRPr lang="en-US" dirty="0"/>
          </a:p>
        </p:txBody>
      </p:sp>
    </p:spTree>
    <p:extLst>
      <p:ext uri="{BB962C8B-B14F-4D97-AF65-F5344CB8AC3E}">
        <p14:creationId xmlns:p14="http://schemas.microsoft.com/office/powerpoint/2010/main" val="282650690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Google Shape;110;p4">
            <a:extLst>
              <a:ext uri="{FF2B5EF4-FFF2-40B4-BE49-F238E27FC236}">
                <a16:creationId xmlns:a16="http://schemas.microsoft.com/office/drawing/2014/main" id="{6BFF8634-403D-6159-2452-7B689CDBC10D}"/>
              </a:ext>
            </a:extLst>
          </p:cNvPr>
          <p:cNvSpPr txBox="1">
            <a:spLocks/>
          </p:cNvSpPr>
          <p:nvPr/>
        </p:nvSpPr>
        <p:spPr>
          <a:xfrm>
            <a:off x="540473" y="510926"/>
            <a:ext cx="7247901" cy="1087454"/>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RPr/>
            </a:defPPr>
            <a:lvl1pPr marR="0" lvl="0" algn="l" rtl="0">
              <a:lnSpc>
                <a:spcPct val="90000"/>
              </a:lnSpc>
              <a:spcBef>
                <a:spcPts val="0"/>
              </a:spcBef>
              <a:spcAft>
                <a:spcPts val="0"/>
              </a:spcAft>
              <a:buClr>
                <a:schemeClr val="dk1"/>
              </a:buClr>
              <a:buSzPts val="18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algn="ctr">
              <a:buClr>
                <a:srgbClr val="FF0000"/>
              </a:buClr>
              <a:buSzPts val="4400"/>
            </a:pPr>
            <a:r>
              <a:rPr lang="en-US" sz="2400" b="1" dirty="0">
                <a:solidFill>
                  <a:srgbClr val="FF0000"/>
                </a:solidFill>
                <a:latin typeface="Times New Roman"/>
                <a:cs typeface="Times New Roman"/>
              </a:rPr>
              <a:t>2. Which country have the most invoices?</a:t>
            </a:r>
            <a:br>
              <a:rPr lang="en-US" sz="2400" b="1" dirty="0">
                <a:latin typeface="Times New Roman" panose="02020603050405020304" pitchFamily="18" charset="0"/>
                <a:cs typeface="Times New Roman" panose="02020603050405020304" pitchFamily="18" charset="0"/>
              </a:rPr>
            </a:br>
            <a:r>
              <a:rPr lang="en-US" sz="2400" b="1" dirty="0">
                <a:solidFill>
                  <a:schemeClr val="tx1"/>
                </a:solidFill>
                <a:latin typeface="Times New Roman"/>
                <a:cs typeface="Times New Roman"/>
              </a:rPr>
              <a:t>(Country with most invoice </a:t>
            </a:r>
            <a:r>
              <a:rPr lang="en-US" sz="2400" b="1" dirty="0">
                <a:solidFill>
                  <a:schemeClr val="tx1"/>
                </a:solidFill>
                <a:latin typeface="Times New Roman"/>
                <a:cs typeface="Times New Roman"/>
                <a:sym typeface="Wingdings" panose="05000000000000000000" pitchFamily="2" charset="2"/>
              </a:rPr>
              <a:t> USA 131</a:t>
            </a:r>
            <a:r>
              <a:rPr lang="en-US" sz="2400" b="1" dirty="0">
                <a:solidFill>
                  <a:schemeClr val="tx1"/>
                </a:solidFill>
                <a:latin typeface="Times New Roman"/>
                <a:cs typeface="Times New Roman"/>
              </a:rPr>
              <a:t>)</a:t>
            </a:r>
          </a:p>
        </p:txBody>
      </p:sp>
      <p:pic>
        <p:nvPicPr>
          <p:cNvPr id="7" name="Picture 6" descr="A white background with black text&#10;&#10;AI-generated content may be incorrect.">
            <a:extLst>
              <a:ext uri="{FF2B5EF4-FFF2-40B4-BE49-F238E27FC236}">
                <a16:creationId xmlns:a16="http://schemas.microsoft.com/office/drawing/2014/main" id="{DC58F6E6-6569-2D5A-F104-071DE1472D4B}"/>
              </a:ext>
            </a:extLst>
          </p:cNvPr>
          <p:cNvPicPr>
            <a:picLocks noChangeAspect="1"/>
          </p:cNvPicPr>
          <p:nvPr/>
        </p:nvPicPr>
        <p:blipFill>
          <a:blip r:embed="rId2"/>
          <a:stretch>
            <a:fillRect/>
          </a:stretch>
        </p:blipFill>
        <p:spPr>
          <a:xfrm>
            <a:off x="858913" y="1719717"/>
            <a:ext cx="7266115" cy="1281081"/>
          </a:xfrm>
          <a:prstGeom prst="rect">
            <a:avLst/>
          </a:prstGeom>
        </p:spPr>
      </p:pic>
      <p:pic>
        <p:nvPicPr>
          <p:cNvPr id="8" name="Picture 7" descr="A screenshot of a computer&#10;&#10;AI-generated content may be incorrect.">
            <a:extLst>
              <a:ext uri="{FF2B5EF4-FFF2-40B4-BE49-F238E27FC236}">
                <a16:creationId xmlns:a16="http://schemas.microsoft.com/office/drawing/2014/main" id="{ADF52741-8263-5CCB-6AB5-C518ACB177AB}"/>
              </a:ext>
            </a:extLst>
          </p:cNvPr>
          <p:cNvPicPr>
            <a:picLocks noChangeAspect="1"/>
          </p:cNvPicPr>
          <p:nvPr/>
        </p:nvPicPr>
        <p:blipFill>
          <a:blip r:embed="rId3"/>
          <a:stretch>
            <a:fillRect/>
          </a:stretch>
        </p:blipFill>
        <p:spPr>
          <a:xfrm>
            <a:off x="8327571" y="929369"/>
            <a:ext cx="3135085" cy="3551463"/>
          </a:xfrm>
          <a:prstGeom prst="rect">
            <a:avLst/>
          </a:prstGeom>
        </p:spPr>
      </p:pic>
      <p:sp>
        <p:nvSpPr>
          <p:cNvPr id="2" name="TextBox 1">
            <a:extLst>
              <a:ext uri="{FF2B5EF4-FFF2-40B4-BE49-F238E27FC236}">
                <a16:creationId xmlns:a16="http://schemas.microsoft.com/office/drawing/2014/main" id="{5BF1A957-8F05-4D10-375D-7E2D78139C1A}"/>
              </a:ext>
            </a:extLst>
          </p:cNvPr>
          <p:cNvSpPr txBox="1"/>
          <p:nvPr/>
        </p:nvSpPr>
        <p:spPr>
          <a:xfrm>
            <a:off x="831955" y="4310423"/>
            <a:ext cx="7315867" cy="141577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2400" b="1" dirty="0">
                <a:solidFill>
                  <a:srgbClr val="FF0000"/>
                </a:solidFill>
                <a:latin typeface="Times New Roman"/>
                <a:cs typeface="Times New Roman"/>
              </a:rPr>
              <a:t>Insight:</a:t>
            </a:r>
            <a:r>
              <a:rPr lang="en-US" sz="2400" dirty="0">
                <a:latin typeface="Times New Roman"/>
                <a:cs typeface="Times New Roman"/>
              </a:rPr>
              <a:t> </a:t>
            </a:r>
            <a:r>
              <a:rPr lang="en-US" sz="2400" b="1" dirty="0">
                <a:latin typeface="Times New Roman"/>
                <a:cs typeface="Times New Roman"/>
              </a:rPr>
              <a:t>The USA, Canada, and Brazil generate the highest number of invoices, indicating these countries contribute the most sales transactions.</a:t>
            </a:r>
            <a:endParaRPr lang="en-US" sz="2400" dirty="0">
              <a:latin typeface="Times New Roman"/>
              <a:cs typeface="Times New Roman"/>
            </a:endParaRPr>
          </a:p>
          <a:p>
            <a:pPr algn="l"/>
            <a:endParaRPr lang="en-US" dirty="0"/>
          </a:p>
        </p:txBody>
      </p:sp>
    </p:spTree>
    <p:extLst>
      <p:ext uri="{BB962C8B-B14F-4D97-AF65-F5344CB8AC3E}">
        <p14:creationId xmlns:p14="http://schemas.microsoft.com/office/powerpoint/2010/main" val="357393936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09">
          <a:extLst>
            <a:ext uri="{FF2B5EF4-FFF2-40B4-BE49-F238E27FC236}">
              <a16:creationId xmlns:a16="http://schemas.microsoft.com/office/drawing/2014/main" id="{856B5859-F69C-0C47-2B05-BE39E4433F08}"/>
            </a:ext>
          </a:extLst>
        </p:cNvPr>
        <p:cNvGrpSpPr/>
        <p:nvPr/>
      </p:nvGrpSpPr>
      <p:grpSpPr>
        <a:xfrm>
          <a:off x="0" y="0"/>
          <a:ext cx="0" cy="0"/>
          <a:chOff x="0" y="0"/>
          <a:chExt cx="0" cy="0"/>
        </a:xfrm>
      </p:grpSpPr>
      <p:sp>
        <p:nvSpPr>
          <p:cNvPr id="110" name="Google Shape;110;p4">
            <a:extLst>
              <a:ext uri="{FF2B5EF4-FFF2-40B4-BE49-F238E27FC236}">
                <a16:creationId xmlns:a16="http://schemas.microsoft.com/office/drawing/2014/main" id="{F5ADC353-5C28-27EB-0DFB-21C3C5A71958}"/>
              </a:ext>
            </a:extLst>
          </p:cNvPr>
          <p:cNvSpPr txBox="1">
            <a:spLocks noGrp="1"/>
          </p:cNvSpPr>
          <p:nvPr>
            <p:ph type="title"/>
          </p:nvPr>
        </p:nvSpPr>
        <p:spPr>
          <a:xfrm>
            <a:off x="497559" y="259011"/>
            <a:ext cx="6495936" cy="815409"/>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rgbClr val="FF0000"/>
              </a:buClr>
              <a:buSzPts val="4400"/>
              <a:buFont typeface="Calibri"/>
              <a:buNone/>
            </a:pPr>
            <a:r>
              <a:rPr lang="en-IN" sz="2400" b="1" dirty="0">
                <a:solidFill>
                  <a:srgbClr val="FF0000"/>
                </a:solidFill>
                <a:latin typeface="Times New Roman"/>
                <a:cs typeface="Times New Roman"/>
              </a:rPr>
              <a:t>3. What are the top 3 values of total invoices?</a:t>
            </a:r>
            <a:br>
              <a:rPr lang="en-IN" sz="2400" b="1" dirty="0">
                <a:latin typeface="Times New Roman" panose="02020603050405020304" pitchFamily="18" charset="0"/>
                <a:cs typeface="Times New Roman" panose="02020603050405020304" pitchFamily="18" charset="0"/>
              </a:rPr>
            </a:br>
            <a:r>
              <a:rPr lang="en-IN" sz="2400" b="1" dirty="0">
                <a:solidFill>
                  <a:schemeClr val="tx1"/>
                </a:solidFill>
                <a:latin typeface="Times New Roman"/>
                <a:cs typeface="Times New Roman"/>
              </a:rPr>
              <a:t>(Top 3 invoice totals)</a:t>
            </a:r>
          </a:p>
        </p:txBody>
      </p:sp>
      <p:pic>
        <p:nvPicPr>
          <p:cNvPr id="2" name="Picture 1" descr="A close up of a computer screen&#10;&#10;AI-generated content may be incorrect.">
            <a:extLst>
              <a:ext uri="{FF2B5EF4-FFF2-40B4-BE49-F238E27FC236}">
                <a16:creationId xmlns:a16="http://schemas.microsoft.com/office/drawing/2014/main" id="{63920336-2551-B78C-1934-A70360B11B05}"/>
              </a:ext>
            </a:extLst>
          </p:cNvPr>
          <p:cNvPicPr>
            <a:picLocks noChangeAspect="1"/>
          </p:cNvPicPr>
          <p:nvPr/>
        </p:nvPicPr>
        <p:blipFill>
          <a:blip r:embed="rId3"/>
          <a:stretch>
            <a:fillRect/>
          </a:stretch>
        </p:blipFill>
        <p:spPr>
          <a:xfrm>
            <a:off x="680962" y="1719089"/>
            <a:ext cx="5196567" cy="1462767"/>
          </a:xfrm>
          <a:prstGeom prst="rect">
            <a:avLst/>
          </a:prstGeom>
        </p:spPr>
      </p:pic>
      <p:pic>
        <p:nvPicPr>
          <p:cNvPr id="4" name="Picture 3" descr="A screenshot of a computer&#10;&#10;AI-generated content may be incorrect.">
            <a:extLst>
              <a:ext uri="{FF2B5EF4-FFF2-40B4-BE49-F238E27FC236}">
                <a16:creationId xmlns:a16="http://schemas.microsoft.com/office/drawing/2014/main" id="{63C63227-8986-1172-2C16-05974CFF5F34}"/>
              </a:ext>
            </a:extLst>
          </p:cNvPr>
          <p:cNvPicPr>
            <a:picLocks noChangeAspect="1"/>
          </p:cNvPicPr>
          <p:nvPr/>
        </p:nvPicPr>
        <p:blipFill>
          <a:blip r:embed="rId4"/>
          <a:stretch>
            <a:fillRect/>
          </a:stretch>
        </p:blipFill>
        <p:spPr>
          <a:xfrm>
            <a:off x="7282249" y="1694528"/>
            <a:ext cx="2944585" cy="1477735"/>
          </a:xfrm>
          <a:prstGeom prst="rect">
            <a:avLst/>
          </a:prstGeom>
        </p:spPr>
      </p:pic>
      <p:sp>
        <p:nvSpPr>
          <p:cNvPr id="3" name="TextBox 2">
            <a:extLst>
              <a:ext uri="{FF2B5EF4-FFF2-40B4-BE49-F238E27FC236}">
                <a16:creationId xmlns:a16="http://schemas.microsoft.com/office/drawing/2014/main" id="{8EEC4A17-EC05-36BE-3CA7-818BEBD9B5E9}"/>
              </a:ext>
            </a:extLst>
          </p:cNvPr>
          <p:cNvSpPr txBox="1"/>
          <p:nvPr/>
        </p:nvSpPr>
        <p:spPr>
          <a:xfrm>
            <a:off x="680109" y="3756314"/>
            <a:ext cx="9917273" cy="141577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2400" b="1" dirty="0">
                <a:solidFill>
                  <a:srgbClr val="FF0000"/>
                </a:solidFill>
                <a:latin typeface="Times New Roman"/>
                <a:cs typeface="Times New Roman"/>
              </a:rPr>
              <a:t>Insight:</a:t>
            </a:r>
            <a:r>
              <a:rPr lang="en-US" sz="2400" b="1" dirty="0">
                <a:latin typeface="Times New Roman"/>
                <a:cs typeface="Times New Roman"/>
              </a:rPr>
              <a:t> The highest invoice value is 23.76 (Customer ID 42), followed by 19.80 from Customer IDs 32 and 3, indicating the top invoice transactions in the dataset.</a:t>
            </a:r>
            <a:endParaRPr lang="en-US" sz="2400">
              <a:latin typeface="Times New Roman"/>
              <a:cs typeface="Times New Roman"/>
            </a:endParaRPr>
          </a:p>
          <a:p>
            <a:pPr algn="l"/>
            <a:endParaRPr lang="en-US" dirty="0"/>
          </a:p>
        </p:txBody>
      </p:sp>
    </p:spTree>
    <p:extLst>
      <p:ext uri="{BB962C8B-B14F-4D97-AF65-F5344CB8AC3E}">
        <p14:creationId xmlns:p14="http://schemas.microsoft.com/office/powerpoint/2010/main" val="335328874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A white background with black text&#10;&#10;AI-generated content may be incorrect.">
            <a:extLst>
              <a:ext uri="{FF2B5EF4-FFF2-40B4-BE49-F238E27FC236}">
                <a16:creationId xmlns:a16="http://schemas.microsoft.com/office/drawing/2014/main" id="{25EBBA0B-C52B-21AB-792A-2A3296B0F23F}"/>
              </a:ext>
            </a:extLst>
          </p:cNvPr>
          <p:cNvPicPr>
            <a:picLocks noChangeAspect="1"/>
          </p:cNvPicPr>
          <p:nvPr/>
        </p:nvPicPr>
        <p:blipFill>
          <a:blip r:embed="rId2"/>
          <a:stretch>
            <a:fillRect/>
          </a:stretch>
        </p:blipFill>
        <p:spPr>
          <a:xfrm>
            <a:off x="417916" y="2127130"/>
            <a:ext cx="5219700" cy="2057400"/>
          </a:xfrm>
          <a:prstGeom prst="rect">
            <a:avLst/>
          </a:prstGeom>
        </p:spPr>
      </p:pic>
      <p:sp>
        <p:nvSpPr>
          <p:cNvPr id="5" name="Google Shape;110;p4">
            <a:extLst>
              <a:ext uri="{FF2B5EF4-FFF2-40B4-BE49-F238E27FC236}">
                <a16:creationId xmlns:a16="http://schemas.microsoft.com/office/drawing/2014/main" id="{58979D7F-765B-41CD-8E3D-30AE5A4D2ADA}"/>
              </a:ext>
            </a:extLst>
          </p:cNvPr>
          <p:cNvSpPr txBox="1">
            <a:spLocks/>
          </p:cNvSpPr>
          <p:nvPr/>
        </p:nvSpPr>
        <p:spPr>
          <a:xfrm>
            <a:off x="420962" y="490880"/>
            <a:ext cx="11729486" cy="1376126"/>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RPr/>
            </a:defPPr>
            <a:lvl1pPr marR="0" lvl="0" algn="l" rtl="0">
              <a:lnSpc>
                <a:spcPct val="90000"/>
              </a:lnSpc>
              <a:spcBef>
                <a:spcPts val="0"/>
              </a:spcBef>
              <a:spcAft>
                <a:spcPts val="0"/>
              </a:spcAft>
              <a:buClr>
                <a:schemeClr val="dk1"/>
              </a:buClr>
              <a:buSzPts val="18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algn="ctr">
              <a:buClr>
                <a:srgbClr val="FF0000"/>
              </a:buClr>
              <a:buSzPts val="4400"/>
            </a:pPr>
            <a:r>
              <a:rPr lang="en-US" sz="2400" b="1" dirty="0">
                <a:solidFill>
                  <a:srgbClr val="FF0000"/>
                </a:solidFill>
                <a:latin typeface="Times New Roman"/>
                <a:cs typeface="Times New Roman"/>
              </a:rPr>
              <a:t>4. Which city  has the highest sum of invoice totals. Return both the city name &amp; sum of all invoice totals?</a:t>
            </a:r>
            <a:br>
              <a:rPr lang="en-US" sz="2400" b="1" dirty="0">
                <a:latin typeface="Times New Roman" panose="02020603050405020304" pitchFamily="18" charset="0"/>
                <a:cs typeface="Times New Roman" panose="02020603050405020304" pitchFamily="18" charset="0"/>
              </a:rPr>
            </a:br>
            <a:r>
              <a:rPr lang="en-US" sz="2400" b="1" dirty="0">
                <a:solidFill>
                  <a:schemeClr val="tx1"/>
                </a:solidFill>
                <a:latin typeface="Times New Roman"/>
                <a:cs typeface="Times New Roman"/>
              </a:rPr>
              <a:t>(City with highest invoice totals </a:t>
            </a:r>
            <a:r>
              <a:rPr lang="en-US" sz="2400" b="1" dirty="0">
                <a:solidFill>
                  <a:schemeClr val="tx1"/>
                </a:solidFill>
                <a:latin typeface="Times New Roman"/>
                <a:cs typeface="Times New Roman"/>
                <a:sym typeface="Wingdings" panose="05000000000000000000" pitchFamily="2" charset="2"/>
              </a:rPr>
              <a:t> Prague </a:t>
            </a:r>
            <a:r>
              <a:rPr lang="en-US" sz="2400" b="1" dirty="0">
                <a:solidFill>
                  <a:schemeClr val="tx1"/>
                </a:solidFill>
                <a:latin typeface="Times New Roman"/>
                <a:cs typeface="Times New Roman"/>
              </a:rPr>
              <a:t>)</a:t>
            </a:r>
          </a:p>
        </p:txBody>
      </p:sp>
      <p:pic>
        <p:nvPicPr>
          <p:cNvPr id="6" name="Picture 5" descr="A screenshot of a computer&#10;&#10;AI-generated content may be incorrect.">
            <a:extLst>
              <a:ext uri="{FF2B5EF4-FFF2-40B4-BE49-F238E27FC236}">
                <a16:creationId xmlns:a16="http://schemas.microsoft.com/office/drawing/2014/main" id="{5A14098D-1F97-7751-2EF7-044DA2A67D86}"/>
              </a:ext>
            </a:extLst>
          </p:cNvPr>
          <p:cNvPicPr>
            <a:picLocks noChangeAspect="1"/>
          </p:cNvPicPr>
          <p:nvPr/>
        </p:nvPicPr>
        <p:blipFill>
          <a:blip r:embed="rId3"/>
          <a:stretch>
            <a:fillRect/>
          </a:stretch>
        </p:blipFill>
        <p:spPr>
          <a:xfrm>
            <a:off x="7895878" y="2120480"/>
            <a:ext cx="2724150" cy="1466850"/>
          </a:xfrm>
          <a:prstGeom prst="rect">
            <a:avLst/>
          </a:prstGeom>
        </p:spPr>
      </p:pic>
      <p:sp>
        <p:nvSpPr>
          <p:cNvPr id="2" name="TextBox 1">
            <a:extLst>
              <a:ext uri="{FF2B5EF4-FFF2-40B4-BE49-F238E27FC236}">
                <a16:creationId xmlns:a16="http://schemas.microsoft.com/office/drawing/2014/main" id="{C0BD8204-5AD5-534C-8295-93D57FD8B737}"/>
              </a:ext>
            </a:extLst>
          </p:cNvPr>
          <p:cNvSpPr txBox="1"/>
          <p:nvPr/>
        </p:nvSpPr>
        <p:spPr>
          <a:xfrm>
            <a:off x="424120" y="4614501"/>
            <a:ext cx="10376777" cy="120032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2400" b="1" dirty="0">
                <a:solidFill>
                  <a:srgbClr val="FF0000"/>
                </a:solidFill>
                <a:latin typeface="Times New Roman"/>
                <a:cs typeface="Times New Roman"/>
              </a:rPr>
              <a:t>Insight:</a:t>
            </a:r>
            <a:r>
              <a:rPr lang="en-US" sz="2400" dirty="0">
                <a:latin typeface="Times New Roman"/>
                <a:cs typeface="Times New Roman"/>
              </a:rPr>
              <a:t> </a:t>
            </a:r>
            <a:r>
              <a:rPr lang="en-US" sz="2400" b="1" dirty="0">
                <a:latin typeface="Times New Roman"/>
                <a:cs typeface="Times New Roman"/>
              </a:rPr>
              <a:t>Prague generates the highest total invoice revenue (273.24), making it </a:t>
            </a:r>
            <a:r>
              <a:rPr lang="en-US" sz="2400" b="1">
                <a:latin typeface="Times New Roman"/>
                <a:cs typeface="Times New Roman"/>
              </a:rPr>
              <a:t>the top</a:t>
            </a:r>
            <a:r>
              <a:rPr lang="en-US" sz="2400" b="1" dirty="0">
                <a:latin typeface="Times New Roman"/>
                <a:cs typeface="Times New Roman"/>
              </a:rPr>
              <a:t>-performing city in sales.</a:t>
            </a:r>
            <a:endParaRPr lang="en-US" sz="2400">
              <a:latin typeface="Times New Roman"/>
              <a:cs typeface="Times New Roman"/>
            </a:endParaRPr>
          </a:p>
          <a:p>
            <a:pPr algn="l"/>
            <a:endParaRPr lang="en-US" sz="2400" dirty="0">
              <a:latin typeface="Times New Roman"/>
              <a:cs typeface="Times New Roman"/>
            </a:endParaRPr>
          </a:p>
        </p:txBody>
      </p:sp>
    </p:spTree>
    <p:extLst>
      <p:ext uri="{BB962C8B-B14F-4D97-AF65-F5344CB8AC3E}">
        <p14:creationId xmlns:p14="http://schemas.microsoft.com/office/powerpoint/2010/main" val="123188699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09">
          <a:extLst>
            <a:ext uri="{FF2B5EF4-FFF2-40B4-BE49-F238E27FC236}">
              <a16:creationId xmlns:a16="http://schemas.microsoft.com/office/drawing/2014/main" id="{7C641C0E-57FF-CC14-D157-8923A4C27A49}"/>
            </a:ext>
          </a:extLst>
        </p:cNvPr>
        <p:cNvGrpSpPr/>
        <p:nvPr/>
      </p:nvGrpSpPr>
      <p:grpSpPr>
        <a:xfrm>
          <a:off x="0" y="0"/>
          <a:ext cx="0" cy="0"/>
          <a:chOff x="0" y="0"/>
          <a:chExt cx="0" cy="0"/>
        </a:xfrm>
      </p:grpSpPr>
      <p:sp>
        <p:nvSpPr>
          <p:cNvPr id="110" name="Google Shape;110;p4">
            <a:extLst>
              <a:ext uri="{FF2B5EF4-FFF2-40B4-BE49-F238E27FC236}">
                <a16:creationId xmlns:a16="http://schemas.microsoft.com/office/drawing/2014/main" id="{AA7F0EAB-5FE6-6807-6D1B-EE0C31217007}"/>
              </a:ext>
            </a:extLst>
          </p:cNvPr>
          <p:cNvSpPr txBox="1">
            <a:spLocks noGrp="1"/>
          </p:cNvSpPr>
          <p:nvPr>
            <p:ph type="title"/>
          </p:nvPr>
        </p:nvSpPr>
        <p:spPr>
          <a:xfrm>
            <a:off x="557121" y="254538"/>
            <a:ext cx="11329105" cy="1309297"/>
          </a:xfrm>
          <a:prstGeom prst="rect">
            <a:avLst/>
          </a:prstGeom>
          <a:noFill/>
          <a:ln>
            <a:noFill/>
          </a:ln>
        </p:spPr>
        <p:txBody>
          <a:bodyPr spcFirstLastPara="1" wrap="square" lIns="91425" tIns="45700" rIns="91425" bIns="45700" anchor="ctr" anchorCtr="0">
            <a:noAutofit/>
          </a:bodyPr>
          <a:lstStyle/>
          <a:p>
            <a:pPr lvl="0" algn="ctr">
              <a:buClr>
                <a:srgbClr val="FF0000"/>
              </a:buClr>
              <a:buSzPts val="4400"/>
            </a:pPr>
            <a:r>
              <a:rPr lang="en-IN" sz="2400" b="1" dirty="0">
                <a:solidFill>
                  <a:srgbClr val="FF0000"/>
                </a:solidFill>
                <a:latin typeface="Times New Roman"/>
                <a:cs typeface="Times New Roman"/>
              </a:rPr>
              <a:t>5.</a:t>
            </a:r>
            <a:r>
              <a:rPr lang="en-US" sz="2400" b="1" dirty="0">
                <a:solidFill>
                  <a:srgbClr val="FF0000"/>
                </a:solidFill>
                <a:latin typeface="Times New Roman"/>
                <a:cs typeface="Times New Roman"/>
              </a:rPr>
              <a:t> Who is the best customer? Write a query that returns the person who has spent the most money</a:t>
            </a:r>
            <a:r>
              <a:rPr lang="en-IN" sz="2400" b="1" dirty="0">
                <a:solidFill>
                  <a:srgbClr val="FF0000"/>
                </a:solidFill>
                <a:latin typeface="Times New Roman"/>
                <a:cs typeface="Times New Roman"/>
              </a:rPr>
              <a:t>?</a:t>
            </a:r>
            <a:br>
              <a:rPr lang="en-IN" sz="2400" b="1" dirty="0">
                <a:latin typeface="Times New Roman" panose="02020603050405020304" pitchFamily="18" charset="0"/>
                <a:cs typeface="Times New Roman" panose="02020603050405020304" pitchFamily="18" charset="0"/>
              </a:rPr>
            </a:br>
            <a:r>
              <a:rPr lang="en-IN" sz="2400" b="1" dirty="0">
                <a:solidFill>
                  <a:schemeClr val="tx1"/>
                </a:solidFill>
                <a:latin typeface="Times New Roman"/>
                <a:cs typeface="Times New Roman"/>
              </a:rPr>
              <a:t>(Best Customer = Highest Spending </a:t>
            </a:r>
            <a:r>
              <a:rPr lang="en-IN" sz="2400" b="1" dirty="0">
                <a:solidFill>
                  <a:schemeClr val="tx1"/>
                </a:solidFill>
                <a:latin typeface="Times New Roman"/>
                <a:cs typeface="Times New Roman"/>
                <a:sym typeface="Wingdings" panose="05000000000000000000" pitchFamily="2" charset="2"/>
              </a:rPr>
              <a:t> </a:t>
            </a:r>
            <a:r>
              <a:rPr lang="en-IN" sz="2400" b="1" dirty="0" err="1">
                <a:solidFill>
                  <a:schemeClr val="tx1"/>
                </a:solidFill>
                <a:latin typeface="Times New Roman"/>
                <a:cs typeface="Times New Roman"/>
                <a:sym typeface="Wingdings" panose="05000000000000000000" pitchFamily="2" charset="2"/>
              </a:rPr>
              <a:t>FrantiAiek</a:t>
            </a:r>
            <a:r>
              <a:rPr lang="en-IN" sz="2400" b="1" dirty="0">
                <a:solidFill>
                  <a:schemeClr val="tx1"/>
                </a:solidFill>
                <a:latin typeface="Times New Roman"/>
                <a:cs typeface="Times New Roman"/>
                <a:sym typeface="Wingdings" panose="05000000000000000000" pitchFamily="2" charset="2"/>
              </a:rPr>
              <a:t> </a:t>
            </a:r>
            <a:r>
              <a:rPr lang="en-IN" sz="2400" b="1" dirty="0" err="1">
                <a:solidFill>
                  <a:schemeClr val="tx1"/>
                </a:solidFill>
                <a:latin typeface="Times New Roman"/>
                <a:cs typeface="Times New Roman"/>
                <a:sym typeface="Wingdings" panose="05000000000000000000" pitchFamily="2" charset="2"/>
              </a:rPr>
              <a:t>WichterovAi</a:t>
            </a:r>
            <a:r>
              <a:rPr lang="en-IN" sz="2400" b="1" dirty="0">
                <a:solidFill>
                  <a:schemeClr val="tx1"/>
                </a:solidFill>
                <a:latin typeface="Times New Roman"/>
                <a:cs typeface="Times New Roman"/>
              </a:rPr>
              <a:t>)</a:t>
            </a:r>
            <a:endParaRPr lang="en-US" sz="2400" b="1">
              <a:solidFill>
                <a:schemeClr val="tx1"/>
              </a:solidFill>
              <a:latin typeface="Times New Roman"/>
              <a:cs typeface="Times New Roman"/>
            </a:endParaRPr>
          </a:p>
        </p:txBody>
      </p:sp>
      <p:pic>
        <p:nvPicPr>
          <p:cNvPr id="2" name="Picture 1" descr="A white background with black text&#10;&#10;AI-generated content may be incorrect.">
            <a:extLst>
              <a:ext uri="{FF2B5EF4-FFF2-40B4-BE49-F238E27FC236}">
                <a16:creationId xmlns:a16="http://schemas.microsoft.com/office/drawing/2014/main" id="{3E2F7F32-6A29-5365-98E3-5FC47B12F18D}"/>
              </a:ext>
            </a:extLst>
          </p:cNvPr>
          <p:cNvPicPr>
            <a:picLocks noChangeAspect="1"/>
          </p:cNvPicPr>
          <p:nvPr/>
        </p:nvPicPr>
        <p:blipFill>
          <a:blip r:embed="rId3"/>
          <a:stretch>
            <a:fillRect/>
          </a:stretch>
        </p:blipFill>
        <p:spPr>
          <a:xfrm>
            <a:off x="527151" y="1711325"/>
            <a:ext cx="8773886" cy="1755322"/>
          </a:xfrm>
          <a:prstGeom prst="rect">
            <a:avLst/>
          </a:prstGeom>
        </p:spPr>
      </p:pic>
      <p:pic>
        <p:nvPicPr>
          <p:cNvPr id="3" name="Picture 2" descr="A close up of a number&#10;&#10;AI-generated content may be incorrect.">
            <a:extLst>
              <a:ext uri="{FF2B5EF4-FFF2-40B4-BE49-F238E27FC236}">
                <a16:creationId xmlns:a16="http://schemas.microsoft.com/office/drawing/2014/main" id="{14A16FEA-2461-CB31-895E-DF3759532A4F}"/>
              </a:ext>
            </a:extLst>
          </p:cNvPr>
          <p:cNvPicPr>
            <a:picLocks noChangeAspect="1"/>
          </p:cNvPicPr>
          <p:nvPr/>
        </p:nvPicPr>
        <p:blipFill>
          <a:blip r:embed="rId4"/>
          <a:stretch>
            <a:fillRect/>
          </a:stretch>
        </p:blipFill>
        <p:spPr>
          <a:xfrm>
            <a:off x="8248140" y="2591376"/>
            <a:ext cx="3648075" cy="955221"/>
          </a:xfrm>
          <a:prstGeom prst="rect">
            <a:avLst/>
          </a:prstGeom>
        </p:spPr>
      </p:pic>
      <p:sp>
        <p:nvSpPr>
          <p:cNvPr id="4" name="TextBox 3">
            <a:extLst>
              <a:ext uri="{FF2B5EF4-FFF2-40B4-BE49-F238E27FC236}">
                <a16:creationId xmlns:a16="http://schemas.microsoft.com/office/drawing/2014/main" id="{C9EB9387-05BD-8F26-87E1-1E44EF3DD020}"/>
              </a:ext>
            </a:extLst>
          </p:cNvPr>
          <p:cNvSpPr txBox="1"/>
          <p:nvPr/>
        </p:nvSpPr>
        <p:spPr>
          <a:xfrm>
            <a:off x="521113" y="4085042"/>
            <a:ext cx="11352829" cy="120032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2400" b="1" dirty="0">
                <a:solidFill>
                  <a:srgbClr val="FF0000"/>
                </a:solidFill>
                <a:latin typeface="Times New Roman"/>
                <a:cs typeface="Times New Roman"/>
              </a:rPr>
              <a:t>Insight:</a:t>
            </a:r>
            <a:r>
              <a:rPr lang="en-US" sz="2400" dirty="0">
                <a:solidFill>
                  <a:srgbClr val="FF0000"/>
                </a:solidFill>
                <a:latin typeface="Times New Roman"/>
                <a:cs typeface="Times New Roman"/>
              </a:rPr>
              <a:t> </a:t>
            </a:r>
            <a:r>
              <a:rPr lang="en-US" sz="2400" b="1" dirty="0">
                <a:latin typeface="Times New Roman"/>
                <a:cs typeface="Times New Roman"/>
              </a:rPr>
              <a:t>František </a:t>
            </a:r>
            <a:r>
              <a:rPr lang="en-US" sz="2400" b="1" dirty="0" err="1">
                <a:latin typeface="Times New Roman"/>
                <a:cs typeface="Times New Roman"/>
              </a:rPr>
              <a:t>Wichterlová</a:t>
            </a:r>
            <a:r>
              <a:rPr lang="en-US" sz="2400" b="1" dirty="0">
                <a:latin typeface="Times New Roman"/>
                <a:cs typeface="Times New Roman"/>
              </a:rPr>
              <a:t> is the best customer, having spent the highest total amount of 144.54 in the store.</a:t>
            </a:r>
            <a:endParaRPr lang="en-US" sz="2400">
              <a:latin typeface="Times New Roman"/>
              <a:cs typeface="Times New Roman"/>
            </a:endParaRPr>
          </a:p>
          <a:p>
            <a:pPr algn="l"/>
            <a:endParaRPr lang="en-US" sz="2400" dirty="0">
              <a:latin typeface="Times New Roman"/>
              <a:cs typeface="Times New Roman"/>
            </a:endParaRPr>
          </a:p>
        </p:txBody>
      </p:sp>
    </p:spTree>
    <p:extLst>
      <p:ext uri="{BB962C8B-B14F-4D97-AF65-F5344CB8AC3E}">
        <p14:creationId xmlns:p14="http://schemas.microsoft.com/office/powerpoint/2010/main" val="362745792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Google Shape;110;p4">
            <a:extLst>
              <a:ext uri="{FF2B5EF4-FFF2-40B4-BE49-F238E27FC236}">
                <a16:creationId xmlns:a16="http://schemas.microsoft.com/office/drawing/2014/main" id="{C8569387-A796-51B4-2900-A5C51E368CE1}"/>
              </a:ext>
            </a:extLst>
          </p:cNvPr>
          <p:cNvSpPr txBox="1">
            <a:spLocks/>
          </p:cNvSpPr>
          <p:nvPr/>
        </p:nvSpPr>
        <p:spPr>
          <a:xfrm>
            <a:off x="0" y="335126"/>
            <a:ext cx="12195729" cy="1391459"/>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RPr/>
            </a:defPPr>
            <a:lvl1pPr marR="0" lvl="0" algn="l" rtl="0">
              <a:lnSpc>
                <a:spcPct val="90000"/>
              </a:lnSpc>
              <a:spcBef>
                <a:spcPts val="0"/>
              </a:spcBef>
              <a:spcAft>
                <a:spcPts val="0"/>
              </a:spcAft>
              <a:buClr>
                <a:schemeClr val="dk1"/>
              </a:buClr>
              <a:buSzPts val="18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algn="ctr">
              <a:buClr>
                <a:srgbClr val="FF0000"/>
              </a:buClr>
              <a:buSzPts val="4400"/>
            </a:pPr>
            <a:r>
              <a:rPr lang="en-US" sz="2400" b="1" dirty="0">
                <a:solidFill>
                  <a:srgbClr val="FF0000"/>
                </a:solidFill>
                <a:latin typeface="Times New Roman"/>
                <a:cs typeface="Times New Roman"/>
              </a:rPr>
              <a:t>6. Write a query to return the email, first name, last name, &amp; Genre of all Rock Music listeners in alphabetical order?</a:t>
            </a:r>
            <a:br>
              <a:rPr lang="en-US" sz="2400" b="1" dirty="0">
                <a:latin typeface="Times New Roman" panose="02020603050405020304" pitchFamily="18" charset="0"/>
                <a:cs typeface="Times New Roman" panose="02020603050405020304" pitchFamily="18" charset="0"/>
              </a:rPr>
            </a:br>
            <a:r>
              <a:rPr lang="en-US" sz="2400" b="1" dirty="0">
                <a:solidFill>
                  <a:schemeClr val="tx1"/>
                </a:solidFill>
                <a:latin typeface="Times New Roman"/>
                <a:cs typeface="Times New Roman"/>
              </a:rPr>
              <a:t>(Rock genre music listeners)</a:t>
            </a:r>
          </a:p>
        </p:txBody>
      </p:sp>
      <p:pic>
        <p:nvPicPr>
          <p:cNvPr id="5" name="Picture 4" descr="A screen shot of a computer code&#10;&#10;AI-generated content may be incorrect.">
            <a:extLst>
              <a:ext uri="{FF2B5EF4-FFF2-40B4-BE49-F238E27FC236}">
                <a16:creationId xmlns:a16="http://schemas.microsoft.com/office/drawing/2014/main" id="{D167B688-294B-4C58-98CA-FDE94CB4A3A2}"/>
              </a:ext>
            </a:extLst>
          </p:cNvPr>
          <p:cNvPicPr>
            <a:picLocks noChangeAspect="1"/>
          </p:cNvPicPr>
          <p:nvPr/>
        </p:nvPicPr>
        <p:blipFill>
          <a:blip r:embed="rId2"/>
          <a:stretch>
            <a:fillRect/>
          </a:stretch>
        </p:blipFill>
        <p:spPr>
          <a:xfrm>
            <a:off x="451180" y="1869898"/>
            <a:ext cx="6315075" cy="2638425"/>
          </a:xfrm>
          <a:prstGeom prst="rect">
            <a:avLst/>
          </a:prstGeom>
        </p:spPr>
      </p:pic>
      <p:pic>
        <p:nvPicPr>
          <p:cNvPr id="6" name="Picture 5" descr="A screenshot of a computer&#10;&#10;AI-generated content may be incorrect.">
            <a:extLst>
              <a:ext uri="{FF2B5EF4-FFF2-40B4-BE49-F238E27FC236}">
                <a16:creationId xmlns:a16="http://schemas.microsoft.com/office/drawing/2014/main" id="{1A082D89-6262-1862-6AE6-BA0692B98E91}"/>
              </a:ext>
            </a:extLst>
          </p:cNvPr>
          <p:cNvPicPr>
            <a:picLocks noChangeAspect="1"/>
          </p:cNvPicPr>
          <p:nvPr/>
        </p:nvPicPr>
        <p:blipFill>
          <a:blip r:embed="rId3"/>
          <a:stretch>
            <a:fillRect/>
          </a:stretch>
        </p:blipFill>
        <p:spPr>
          <a:xfrm>
            <a:off x="7145614" y="1873134"/>
            <a:ext cx="4000500" cy="2143125"/>
          </a:xfrm>
          <a:prstGeom prst="rect">
            <a:avLst/>
          </a:prstGeom>
        </p:spPr>
      </p:pic>
      <p:sp>
        <p:nvSpPr>
          <p:cNvPr id="2" name="TextBox 1">
            <a:extLst>
              <a:ext uri="{FF2B5EF4-FFF2-40B4-BE49-F238E27FC236}">
                <a16:creationId xmlns:a16="http://schemas.microsoft.com/office/drawing/2014/main" id="{A13563BF-6EF4-0CBC-881A-447D0E7D9372}"/>
              </a:ext>
            </a:extLst>
          </p:cNvPr>
          <p:cNvSpPr txBox="1"/>
          <p:nvPr/>
        </p:nvSpPr>
        <p:spPr>
          <a:xfrm>
            <a:off x="282815" y="5067445"/>
            <a:ext cx="11307517" cy="120032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2400" b="1" dirty="0">
                <a:solidFill>
                  <a:srgbClr val="FF0000"/>
                </a:solidFill>
                <a:latin typeface="Times New Roman"/>
                <a:cs typeface="Times New Roman"/>
              </a:rPr>
              <a:t>Insight: </a:t>
            </a:r>
            <a:r>
              <a:rPr lang="en-US" sz="2400" b="1" dirty="0">
                <a:solidFill>
                  <a:schemeClr val="tx1"/>
                </a:solidFill>
                <a:latin typeface="Times New Roman"/>
                <a:cs typeface="Times New Roman"/>
              </a:rPr>
              <a:t>The analysis identifies customers who listen to Rock music, helping the store understand genre preferences and target Rock music fans effectively.</a:t>
            </a:r>
            <a:endParaRPr lang="en-US" sz="2400">
              <a:solidFill>
                <a:schemeClr val="tx1"/>
              </a:solidFill>
              <a:latin typeface="Times New Roman"/>
              <a:cs typeface="Times New Roman"/>
            </a:endParaRPr>
          </a:p>
          <a:p>
            <a:pPr algn="l"/>
            <a:endParaRPr lang="en-US" sz="2400" dirty="0">
              <a:latin typeface="Times New Roman"/>
              <a:cs typeface="Times New Roman"/>
            </a:endParaRPr>
          </a:p>
        </p:txBody>
      </p:sp>
    </p:spTree>
    <p:extLst>
      <p:ext uri="{BB962C8B-B14F-4D97-AF65-F5344CB8AC3E}">
        <p14:creationId xmlns:p14="http://schemas.microsoft.com/office/powerpoint/2010/main" val="360353651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09">
          <a:extLst>
            <a:ext uri="{FF2B5EF4-FFF2-40B4-BE49-F238E27FC236}">
              <a16:creationId xmlns:a16="http://schemas.microsoft.com/office/drawing/2014/main" id="{9FDB6D66-605F-F15E-83E5-7966F6571A0B}"/>
            </a:ext>
          </a:extLst>
        </p:cNvPr>
        <p:cNvGrpSpPr/>
        <p:nvPr/>
      </p:nvGrpSpPr>
      <p:grpSpPr>
        <a:xfrm>
          <a:off x="0" y="0"/>
          <a:ext cx="0" cy="0"/>
          <a:chOff x="0" y="0"/>
          <a:chExt cx="0" cy="0"/>
        </a:xfrm>
      </p:grpSpPr>
      <p:sp>
        <p:nvSpPr>
          <p:cNvPr id="110" name="Google Shape;110;p4">
            <a:extLst>
              <a:ext uri="{FF2B5EF4-FFF2-40B4-BE49-F238E27FC236}">
                <a16:creationId xmlns:a16="http://schemas.microsoft.com/office/drawing/2014/main" id="{D1713518-91AA-C293-80A3-9BE678470F2A}"/>
              </a:ext>
            </a:extLst>
          </p:cNvPr>
          <p:cNvSpPr txBox="1">
            <a:spLocks noGrp="1"/>
          </p:cNvSpPr>
          <p:nvPr>
            <p:ph type="title"/>
          </p:nvPr>
        </p:nvSpPr>
        <p:spPr>
          <a:xfrm>
            <a:off x="232565" y="151668"/>
            <a:ext cx="11653661" cy="1170341"/>
          </a:xfrm>
          <a:prstGeom prst="rect">
            <a:avLst/>
          </a:prstGeom>
          <a:noFill/>
          <a:ln>
            <a:noFill/>
          </a:ln>
        </p:spPr>
        <p:txBody>
          <a:bodyPr spcFirstLastPara="1" wrap="square" lIns="91425" tIns="45700" rIns="91425" bIns="45700" anchor="ctr" anchorCtr="0">
            <a:noAutofit/>
          </a:bodyPr>
          <a:lstStyle/>
          <a:p>
            <a:pPr lvl="0" algn="ctr">
              <a:buClr>
                <a:srgbClr val="FF0000"/>
              </a:buClr>
              <a:buSzPts val="4400"/>
            </a:pPr>
            <a:r>
              <a:rPr lang="en-IN" sz="2400" b="1" dirty="0">
                <a:solidFill>
                  <a:srgbClr val="FF0000"/>
                </a:solidFill>
                <a:latin typeface="Times New Roman"/>
                <a:cs typeface="Times New Roman"/>
              </a:rPr>
              <a:t>7.</a:t>
            </a:r>
            <a:r>
              <a:rPr lang="en-US" sz="2400" b="1" dirty="0">
                <a:solidFill>
                  <a:srgbClr val="FF0000"/>
                </a:solidFill>
                <a:latin typeface="Times New Roman"/>
                <a:cs typeface="Times New Roman"/>
              </a:rPr>
              <a:t> Write a query that returns the Artist name and total track count of the top 10 rock bands </a:t>
            </a:r>
            <a:r>
              <a:rPr lang="en-IN" sz="2400" b="1" dirty="0">
                <a:solidFill>
                  <a:srgbClr val="FF0000"/>
                </a:solidFill>
                <a:latin typeface="Times New Roman"/>
                <a:cs typeface="Times New Roman"/>
              </a:rPr>
              <a:t>?</a:t>
            </a:r>
            <a:br>
              <a:rPr lang="en-IN" sz="2400" b="1" dirty="0">
                <a:latin typeface="Times New Roman" panose="02020603050405020304" pitchFamily="18" charset="0"/>
                <a:cs typeface="Times New Roman" panose="02020603050405020304" pitchFamily="18" charset="0"/>
              </a:rPr>
            </a:br>
            <a:r>
              <a:rPr lang="en-IN" sz="2400" b="1" dirty="0">
                <a:solidFill>
                  <a:schemeClr val="tx1"/>
                </a:solidFill>
                <a:latin typeface="Times New Roman"/>
                <a:cs typeface="Times New Roman"/>
              </a:rPr>
              <a:t>(Top 10 Rock genre artists)</a:t>
            </a:r>
            <a:endParaRPr lang="en-US" sz="2400" b="1">
              <a:solidFill>
                <a:schemeClr val="tx1"/>
              </a:solidFill>
              <a:latin typeface="Times New Roman"/>
              <a:cs typeface="Times New Roman"/>
            </a:endParaRPr>
          </a:p>
        </p:txBody>
      </p:sp>
      <p:pic>
        <p:nvPicPr>
          <p:cNvPr id="2" name="Picture 1" descr="A computer screen shot of a program&#10;&#10;AI-generated content may be incorrect.">
            <a:extLst>
              <a:ext uri="{FF2B5EF4-FFF2-40B4-BE49-F238E27FC236}">
                <a16:creationId xmlns:a16="http://schemas.microsoft.com/office/drawing/2014/main" id="{7AA9ACA5-3C2F-E63E-E8CA-8D4276379AD9}"/>
              </a:ext>
            </a:extLst>
          </p:cNvPr>
          <p:cNvPicPr>
            <a:picLocks noChangeAspect="1"/>
          </p:cNvPicPr>
          <p:nvPr/>
        </p:nvPicPr>
        <p:blipFill>
          <a:blip r:embed="rId3"/>
          <a:stretch>
            <a:fillRect/>
          </a:stretch>
        </p:blipFill>
        <p:spPr>
          <a:xfrm>
            <a:off x="233673" y="1707956"/>
            <a:ext cx="7943850" cy="2678629"/>
          </a:xfrm>
          <a:prstGeom prst="rect">
            <a:avLst/>
          </a:prstGeom>
        </p:spPr>
      </p:pic>
      <p:pic>
        <p:nvPicPr>
          <p:cNvPr id="4" name="Picture 3" descr="A screenshot of a music list&#10;&#10;AI-generated content may be incorrect.">
            <a:extLst>
              <a:ext uri="{FF2B5EF4-FFF2-40B4-BE49-F238E27FC236}">
                <a16:creationId xmlns:a16="http://schemas.microsoft.com/office/drawing/2014/main" id="{8392642B-4AA4-D353-5359-F0287B98BAAD}"/>
              </a:ext>
            </a:extLst>
          </p:cNvPr>
          <p:cNvPicPr>
            <a:picLocks noChangeAspect="1"/>
          </p:cNvPicPr>
          <p:nvPr/>
        </p:nvPicPr>
        <p:blipFill>
          <a:blip r:embed="rId4"/>
          <a:stretch>
            <a:fillRect/>
          </a:stretch>
        </p:blipFill>
        <p:spPr>
          <a:xfrm>
            <a:off x="8689652" y="1689245"/>
            <a:ext cx="3509032" cy="2686853"/>
          </a:xfrm>
          <a:prstGeom prst="rect">
            <a:avLst/>
          </a:prstGeom>
        </p:spPr>
      </p:pic>
      <p:sp>
        <p:nvSpPr>
          <p:cNvPr id="3" name="TextBox 2">
            <a:extLst>
              <a:ext uri="{FF2B5EF4-FFF2-40B4-BE49-F238E27FC236}">
                <a16:creationId xmlns:a16="http://schemas.microsoft.com/office/drawing/2014/main" id="{F48573FB-E199-71E6-ECB4-73A3266D3703}"/>
              </a:ext>
            </a:extLst>
          </p:cNvPr>
          <p:cNvSpPr txBox="1"/>
          <p:nvPr/>
        </p:nvSpPr>
        <p:spPr>
          <a:xfrm>
            <a:off x="341840" y="4723818"/>
            <a:ext cx="11438885" cy="120032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2400" b="1" dirty="0">
                <a:solidFill>
                  <a:srgbClr val="FF0000"/>
                </a:solidFill>
                <a:latin typeface="Times New Roman"/>
                <a:cs typeface="Times New Roman"/>
              </a:rPr>
              <a:t>Insight: </a:t>
            </a:r>
            <a:r>
              <a:rPr lang="en-US" sz="2400" b="1" dirty="0">
                <a:latin typeface="Times New Roman"/>
                <a:cs typeface="Times New Roman"/>
              </a:rPr>
              <a:t>The analysis identifies the top 10 Rock artists based on the number of tracks, with Led Zeppelin having the highest track count.</a:t>
            </a:r>
            <a:endParaRPr lang="en-US" sz="2400">
              <a:latin typeface="Times New Roman"/>
              <a:cs typeface="Times New Roman"/>
            </a:endParaRPr>
          </a:p>
          <a:p>
            <a:pPr algn="l"/>
            <a:endParaRPr lang="en-US" sz="2400" dirty="0">
              <a:latin typeface="Times New Roman"/>
              <a:cs typeface="Times New Roman"/>
            </a:endParaRPr>
          </a:p>
        </p:txBody>
      </p:sp>
    </p:spTree>
    <p:extLst>
      <p:ext uri="{BB962C8B-B14F-4D97-AF65-F5344CB8AC3E}">
        <p14:creationId xmlns:p14="http://schemas.microsoft.com/office/powerpoint/2010/main" val="261719198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Google Shape;110;p4">
            <a:extLst>
              <a:ext uri="{FF2B5EF4-FFF2-40B4-BE49-F238E27FC236}">
                <a16:creationId xmlns:a16="http://schemas.microsoft.com/office/drawing/2014/main" id="{29333BA5-D1E4-92B3-622B-871362ABA20C}"/>
              </a:ext>
            </a:extLst>
          </p:cNvPr>
          <p:cNvSpPr txBox="1">
            <a:spLocks/>
          </p:cNvSpPr>
          <p:nvPr/>
        </p:nvSpPr>
        <p:spPr>
          <a:xfrm>
            <a:off x="0" y="6414"/>
            <a:ext cx="12181618" cy="1712131"/>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RPr/>
            </a:defPPr>
            <a:lvl1pPr marR="0" lvl="0" algn="l" rtl="0">
              <a:lnSpc>
                <a:spcPct val="90000"/>
              </a:lnSpc>
              <a:spcBef>
                <a:spcPts val="0"/>
              </a:spcBef>
              <a:spcAft>
                <a:spcPts val="0"/>
              </a:spcAft>
              <a:buClr>
                <a:schemeClr val="dk1"/>
              </a:buClr>
              <a:buSzPts val="18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algn="ctr">
              <a:buClr>
                <a:srgbClr val="FF0000"/>
              </a:buClr>
              <a:buSzPts val="4400"/>
            </a:pPr>
            <a:r>
              <a:rPr lang="en-US" sz="2400" b="1" dirty="0">
                <a:solidFill>
                  <a:srgbClr val="FF0000"/>
                </a:solidFill>
                <a:latin typeface="Times New Roman"/>
                <a:cs typeface="Times New Roman"/>
              </a:rPr>
              <a:t>8. Return all the track names that have a song length longer than the average song length.- Return the Name and Milliseconds for each track. Order by the song length, with the longest songs listed first?</a:t>
            </a:r>
            <a:br>
              <a:rPr lang="en-US" sz="2400" b="1" dirty="0">
                <a:latin typeface="Times New Roman" panose="02020603050405020304" pitchFamily="18" charset="0"/>
                <a:cs typeface="Times New Roman" panose="02020603050405020304" pitchFamily="18" charset="0"/>
              </a:rPr>
            </a:br>
            <a:r>
              <a:rPr lang="en-US" sz="2400" b="1" dirty="0">
                <a:solidFill>
                  <a:schemeClr val="tx1"/>
                </a:solidFill>
                <a:latin typeface="Times New Roman"/>
                <a:cs typeface="Times New Roman"/>
              </a:rPr>
              <a:t>(Tracks longer than average song length)</a:t>
            </a:r>
          </a:p>
        </p:txBody>
      </p:sp>
      <p:pic>
        <p:nvPicPr>
          <p:cNvPr id="5" name="Picture 4" descr="A computer screen shot of a code&#10;&#10;AI-generated content may be incorrect.">
            <a:extLst>
              <a:ext uri="{FF2B5EF4-FFF2-40B4-BE49-F238E27FC236}">
                <a16:creationId xmlns:a16="http://schemas.microsoft.com/office/drawing/2014/main" id="{1EE1C7FD-19A2-2079-9A3E-4D36D55F4D85}"/>
              </a:ext>
            </a:extLst>
          </p:cNvPr>
          <p:cNvPicPr>
            <a:picLocks noChangeAspect="1"/>
          </p:cNvPicPr>
          <p:nvPr/>
        </p:nvPicPr>
        <p:blipFill>
          <a:blip r:embed="rId2"/>
          <a:stretch>
            <a:fillRect/>
          </a:stretch>
        </p:blipFill>
        <p:spPr>
          <a:xfrm>
            <a:off x="733405" y="1881514"/>
            <a:ext cx="6316133" cy="2493786"/>
          </a:xfrm>
          <a:prstGeom prst="rect">
            <a:avLst/>
          </a:prstGeom>
        </p:spPr>
      </p:pic>
      <p:pic>
        <p:nvPicPr>
          <p:cNvPr id="6" name="Picture 5" descr="A screenshot of a computer&#10;&#10;AI-generated content may be incorrect.">
            <a:extLst>
              <a:ext uri="{FF2B5EF4-FFF2-40B4-BE49-F238E27FC236}">
                <a16:creationId xmlns:a16="http://schemas.microsoft.com/office/drawing/2014/main" id="{8DAC266D-13EC-78C7-4EFE-EAE710C26EA6}"/>
              </a:ext>
            </a:extLst>
          </p:cNvPr>
          <p:cNvPicPr>
            <a:picLocks noChangeAspect="1"/>
          </p:cNvPicPr>
          <p:nvPr/>
        </p:nvPicPr>
        <p:blipFill>
          <a:blip r:embed="rId3"/>
          <a:stretch>
            <a:fillRect/>
          </a:stretch>
        </p:blipFill>
        <p:spPr>
          <a:xfrm>
            <a:off x="7658742" y="1880306"/>
            <a:ext cx="3514725" cy="2490611"/>
          </a:xfrm>
          <a:prstGeom prst="rect">
            <a:avLst/>
          </a:prstGeom>
        </p:spPr>
      </p:pic>
      <p:sp>
        <p:nvSpPr>
          <p:cNvPr id="2" name="TextBox 1">
            <a:extLst>
              <a:ext uri="{FF2B5EF4-FFF2-40B4-BE49-F238E27FC236}">
                <a16:creationId xmlns:a16="http://schemas.microsoft.com/office/drawing/2014/main" id="{AF22A02B-CAAA-FCBE-CC80-2499C5702510}"/>
              </a:ext>
            </a:extLst>
          </p:cNvPr>
          <p:cNvSpPr txBox="1"/>
          <p:nvPr/>
        </p:nvSpPr>
        <p:spPr>
          <a:xfrm>
            <a:off x="277050" y="4856971"/>
            <a:ext cx="11261409" cy="104644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2400" b="1" dirty="0">
                <a:solidFill>
                  <a:srgbClr val="FF0000"/>
                </a:solidFill>
                <a:latin typeface="Times New Roman"/>
                <a:cs typeface="Times New Roman"/>
              </a:rPr>
              <a:t>Insight:</a:t>
            </a:r>
            <a:r>
              <a:rPr lang="en-US" sz="2400" b="1" dirty="0">
                <a:latin typeface="Times New Roman"/>
                <a:cs typeface="Times New Roman"/>
              </a:rPr>
              <a:t> The query identifies tracks that are longer than the average song length, high lighting the longest songs in the music store database.</a:t>
            </a:r>
            <a:endParaRPr lang="en-US" sz="2400">
              <a:latin typeface="Times New Roman"/>
              <a:cs typeface="Times New Roman"/>
            </a:endParaRPr>
          </a:p>
          <a:p>
            <a:pPr algn="l"/>
            <a:endParaRPr lang="en-US" dirty="0"/>
          </a:p>
        </p:txBody>
      </p:sp>
    </p:spTree>
    <p:extLst>
      <p:ext uri="{BB962C8B-B14F-4D97-AF65-F5344CB8AC3E}">
        <p14:creationId xmlns:p14="http://schemas.microsoft.com/office/powerpoint/2010/main" val="100440377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09">
          <a:extLst>
            <a:ext uri="{FF2B5EF4-FFF2-40B4-BE49-F238E27FC236}">
              <a16:creationId xmlns:a16="http://schemas.microsoft.com/office/drawing/2014/main" id="{7F3007D1-F9F6-40BF-92CB-4500CF62B96E}"/>
            </a:ext>
          </a:extLst>
        </p:cNvPr>
        <p:cNvGrpSpPr/>
        <p:nvPr/>
      </p:nvGrpSpPr>
      <p:grpSpPr>
        <a:xfrm>
          <a:off x="0" y="0"/>
          <a:ext cx="0" cy="0"/>
          <a:chOff x="0" y="0"/>
          <a:chExt cx="0" cy="0"/>
        </a:xfrm>
      </p:grpSpPr>
      <p:sp>
        <p:nvSpPr>
          <p:cNvPr id="110" name="Google Shape;110;p4">
            <a:extLst>
              <a:ext uri="{FF2B5EF4-FFF2-40B4-BE49-F238E27FC236}">
                <a16:creationId xmlns:a16="http://schemas.microsoft.com/office/drawing/2014/main" id="{9C8CF879-FB56-8AFE-8913-EB4BC580047E}"/>
              </a:ext>
            </a:extLst>
          </p:cNvPr>
          <p:cNvSpPr txBox="1">
            <a:spLocks noGrp="1"/>
          </p:cNvSpPr>
          <p:nvPr>
            <p:ph type="title"/>
          </p:nvPr>
        </p:nvSpPr>
        <p:spPr>
          <a:xfrm>
            <a:off x="373677" y="254538"/>
            <a:ext cx="11512549" cy="1450408"/>
          </a:xfrm>
          <a:prstGeom prst="rect">
            <a:avLst/>
          </a:prstGeom>
          <a:noFill/>
          <a:ln>
            <a:noFill/>
          </a:ln>
        </p:spPr>
        <p:txBody>
          <a:bodyPr spcFirstLastPara="1" wrap="square" lIns="91425" tIns="45700" rIns="91425" bIns="45700" anchor="ctr" anchorCtr="0">
            <a:noAutofit/>
          </a:bodyPr>
          <a:lstStyle/>
          <a:p>
            <a:pPr lvl="0" algn="ctr">
              <a:buClr>
                <a:srgbClr val="FF0000"/>
              </a:buClr>
              <a:buSzPts val="4400"/>
            </a:pPr>
            <a:r>
              <a:rPr lang="en-IN" sz="2400" b="1" dirty="0">
                <a:solidFill>
                  <a:srgbClr val="FF0000"/>
                </a:solidFill>
                <a:latin typeface="Times New Roman"/>
                <a:cs typeface="Times New Roman"/>
              </a:rPr>
              <a:t>9.</a:t>
            </a:r>
            <a:r>
              <a:rPr lang="en-US" sz="2400" b="1" dirty="0">
                <a:solidFill>
                  <a:srgbClr val="FF0000"/>
                </a:solidFill>
                <a:latin typeface="Times New Roman"/>
                <a:cs typeface="Times New Roman"/>
              </a:rPr>
              <a:t> Find how much amount is spent by each customer on artists? Write a query to return customer name, artist name and total spent</a:t>
            </a:r>
            <a:r>
              <a:rPr lang="en-IN" sz="2400" b="1" dirty="0">
                <a:solidFill>
                  <a:srgbClr val="FF0000"/>
                </a:solidFill>
                <a:latin typeface="Times New Roman"/>
                <a:cs typeface="Times New Roman"/>
              </a:rPr>
              <a:t>?</a:t>
            </a:r>
            <a:br>
              <a:rPr lang="en-IN" sz="2400" b="1" dirty="0">
                <a:latin typeface="Times New Roman" panose="02020603050405020304" pitchFamily="18" charset="0"/>
                <a:cs typeface="Times New Roman" panose="02020603050405020304" pitchFamily="18" charset="0"/>
              </a:rPr>
            </a:br>
            <a:r>
              <a:rPr lang="en-IN" sz="2400" b="1" dirty="0">
                <a:solidFill>
                  <a:schemeClr val="tx1"/>
                </a:solidFill>
                <a:latin typeface="Times New Roman"/>
                <a:cs typeface="Times New Roman"/>
              </a:rPr>
              <a:t>(Customer spending on artist)</a:t>
            </a:r>
            <a:endParaRPr lang="en-US" sz="2400" b="1">
              <a:solidFill>
                <a:schemeClr val="tx1"/>
              </a:solidFill>
              <a:latin typeface="Times New Roman"/>
              <a:cs typeface="Times New Roman"/>
            </a:endParaRPr>
          </a:p>
        </p:txBody>
      </p:sp>
      <p:pic>
        <p:nvPicPr>
          <p:cNvPr id="6" name="Picture 5">
            <a:extLst>
              <a:ext uri="{FF2B5EF4-FFF2-40B4-BE49-F238E27FC236}">
                <a16:creationId xmlns:a16="http://schemas.microsoft.com/office/drawing/2014/main" id="{5D264EA0-3CA3-7A23-EAC4-8903E76675AF}"/>
              </a:ext>
            </a:extLst>
          </p:cNvPr>
          <p:cNvPicPr>
            <a:picLocks noChangeAspect="1"/>
          </p:cNvPicPr>
          <p:nvPr/>
        </p:nvPicPr>
        <p:blipFill>
          <a:blip r:embed="rId3"/>
          <a:stretch>
            <a:fillRect/>
          </a:stretch>
        </p:blipFill>
        <p:spPr>
          <a:xfrm>
            <a:off x="380463" y="1847157"/>
            <a:ext cx="7438927" cy="2922127"/>
          </a:xfrm>
          <a:prstGeom prst="rect">
            <a:avLst/>
          </a:prstGeom>
          <a:ln>
            <a:noFill/>
          </a:ln>
          <a:effectLst>
            <a:outerShdw blurRad="292100" dist="139700" dir="2700000" algn="tl" rotWithShape="0">
              <a:srgbClr val="333333">
                <a:alpha val="65000"/>
              </a:srgbClr>
            </a:outerShdw>
          </a:effectLst>
        </p:spPr>
      </p:pic>
      <p:pic>
        <p:nvPicPr>
          <p:cNvPr id="8" name="Picture 7">
            <a:extLst>
              <a:ext uri="{FF2B5EF4-FFF2-40B4-BE49-F238E27FC236}">
                <a16:creationId xmlns:a16="http://schemas.microsoft.com/office/drawing/2014/main" id="{07BFCBEF-4BDD-A477-3CA9-EB3B128BAB81}"/>
              </a:ext>
            </a:extLst>
          </p:cNvPr>
          <p:cNvPicPr>
            <a:picLocks noChangeAspect="1"/>
          </p:cNvPicPr>
          <p:nvPr/>
        </p:nvPicPr>
        <p:blipFill>
          <a:blip r:embed="rId4"/>
          <a:stretch>
            <a:fillRect/>
          </a:stretch>
        </p:blipFill>
        <p:spPr>
          <a:xfrm>
            <a:off x="8654008" y="1847021"/>
            <a:ext cx="3105225" cy="2929361"/>
          </a:xfrm>
          <a:prstGeom prst="rect">
            <a:avLst/>
          </a:prstGeom>
          <a:ln>
            <a:noFill/>
          </a:ln>
          <a:effectLst>
            <a:outerShdw blurRad="292100" dist="139700" dir="2700000" algn="tl" rotWithShape="0">
              <a:srgbClr val="333333">
                <a:alpha val="65000"/>
              </a:srgbClr>
            </a:outerShdw>
          </a:effectLst>
        </p:spPr>
      </p:pic>
      <p:sp>
        <p:nvSpPr>
          <p:cNvPr id="2" name="TextBox 1">
            <a:extLst>
              <a:ext uri="{FF2B5EF4-FFF2-40B4-BE49-F238E27FC236}">
                <a16:creationId xmlns:a16="http://schemas.microsoft.com/office/drawing/2014/main" id="{F6379F7B-D9CB-76FC-6ACB-7C41A08B500E}"/>
              </a:ext>
            </a:extLst>
          </p:cNvPr>
          <p:cNvSpPr txBox="1"/>
          <p:nvPr/>
        </p:nvSpPr>
        <p:spPr>
          <a:xfrm>
            <a:off x="375827" y="5190679"/>
            <a:ext cx="11514410" cy="120032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2400" b="1" dirty="0">
                <a:solidFill>
                  <a:srgbClr val="FF0000"/>
                </a:solidFill>
                <a:latin typeface="Times New Roman"/>
                <a:cs typeface="Times New Roman"/>
              </a:rPr>
              <a:t>Insight: </a:t>
            </a:r>
            <a:r>
              <a:rPr lang="en-US" sz="2400" b="1" dirty="0">
                <a:latin typeface="Times New Roman"/>
                <a:cs typeface="Times New Roman"/>
              </a:rPr>
              <a:t>This analysis shows how much each customer spends on different artists, helping identify popular artists and customer purchasing patterns.</a:t>
            </a:r>
            <a:endParaRPr lang="en-US" sz="2400">
              <a:latin typeface="Times New Roman"/>
              <a:cs typeface="Times New Roman"/>
            </a:endParaRPr>
          </a:p>
          <a:p>
            <a:pPr algn="l"/>
            <a:endParaRPr lang="en-US" sz="2400" dirty="0">
              <a:latin typeface="Times New Roman"/>
              <a:cs typeface="Times New Roman"/>
            </a:endParaRPr>
          </a:p>
        </p:txBody>
      </p:sp>
    </p:spTree>
    <p:extLst>
      <p:ext uri="{BB962C8B-B14F-4D97-AF65-F5344CB8AC3E}">
        <p14:creationId xmlns:p14="http://schemas.microsoft.com/office/powerpoint/2010/main" val="222401309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A screen shot of a computer code&#10;&#10;AI-generated content may be incorrect.">
            <a:extLst>
              <a:ext uri="{FF2B5EF4-FFF2-40B4-BE49-F238E27FC236}">
                <a16:creationId xmlns:a16="http://schemas.microsoft.com/office/drawing/2014/main" id="{8FC2726E-29CD-7775-B10E-83468CAC0883}"/>
              </a:ext>
            </a:extLst>
          </p:cNvPr>
          <p:cNvPicPr>
            <a:picLocks noChangeAspect="1"/>
          </p:cNvPicPr>
          <p:nvPr/>
        </p:nvPicPr>
        <p:blipFill>
          <a:blip r:embed="rId2"/>
          <a:stretch>
            <a:fillRect/>
          </a:stretch>
        </p:blipFill>
        <p:spPr>
          <a:xfrm>
            <a:off x="299499" y="1743085"/>
            <a:ext cx="7783004" cy="3105316"/>
          </a:xfrm>
          <a:prstGeom prst="rect">
            <a:avLst/>
          </a:prstGeom>
        </p:spPr>
      </p:pic>
      <p:sp>
        <p:nvSpPr>
          <p:cNvPr id="5" name="Google Shape;110;p4">
            <a:extLst>
              <a:ext uri="{FF2B5EF4-FFF2-40B4-BE49-F238E27FC236}">
                <a16:creationId xmlns:a16="http://schemas.microsoft.com/office/drawing/2014/main" id="{531DE14C-44B5-B6EA-DD4D-9C692CF517E9}"/>
              </a:ext>
            </a:extLst>
          </p:cNvPr>
          <p:cNvSpPr txBox="1">
            <a:spLocks/>
          </p:cNvSpPr>
          <p:nvPr/>
        </p:nvSpPr>
        <p:spPr>
          <a:xfrm>
            <a:off x="0" y="275220"/>
            <a:ext cx="12153396" cy="146239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RPr/>
            </a:defPPr>
            <a:lvl1pPr marR="0" lvl="0" algn="l" rtl="0">
              <a:lnSpc>
                <a:spcPct val="90000"/>
              </a:lnSpc>
              <a:spcBef>
                <a:spcPts val="0"/>
              </a:spcBef>
              <a:spcAft>
                <a:spcPts val="0"/>
              </a:spcAft>
              <a:buClr>
                <a:schemeClr val="dk1"/>
              </a:buClr>
              <a:buSzPts val="18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algn="ctr">
              <a:buClr>
                <a:srgbClr val="FF0000"/>
              </a:buClr>
              <a:buSzPts val="4400"/>
            </a:pPr>
            <a:r>
              <a:rPr lang="en-US" sz="2400" b="1" dirty="0">
                <a:solidFill>
                  <a:srgbClr val="FF0000"/>
                </a:solidFill>
                <a:latin typeface="Times New Roman"/>
                <a:cs typeface="Times New Roman"/>
              </a:rPr>
              <a:t>10. Write a query that returns each country along with the top Genre. For countries where the maximum number of purchases is shared, return all Genres?</a:t>
            </a:r>
            <a:br>
              <a:rPr lang="en-US" sz="2400" b="1" dirty="0">
                <a:latin typeface="Times New Roman" panose="02020603050405020304" pitchFamily="18" charset="0"/>
                <a:cs typeface="Times New Roman" panose="02020603050405020304" pitchFamily="18" charset="0"/>
              </a:rPr>
            </a:br>
            <a:r>
              <a:rPr lang="en-US" sz="2400" b="1" dirty="0">
                <a:solidFill>
                  <a:schemeClr val="tx1"/>
                </a:solidFill>
                <a:latin typeface="Times New Roman"/>
                <a:cs typeface="Times New Roman"/>
              </a:rPr>
              <a:t>(Most popular genre by country)</a:t>
            </a:r>
          </a:p>
        </p:txBody>
      </p:sp>
      <p:pic>
        <p:nvPicPr>
          <p:cNvPr id="6" name="Picture 5" descr="A screenshot of a table&#10;&#10;AI-generated content may be incorrect.">
            <a:extLst>
              <a:ext uri="{FF2B5EF4-FFF2-40B4-BE49-F238E27FC236}">
                <a16:creationId xmlns:a16="http://schemas.microsoft.com/office/drawing/2014/main" id="{8679C2FF-DBAF-4D83-4222-F1DFD30A5799}"/>
              </a:ext>
            </a:extLst>
          </p:cNvPr>
          <p:cNvPicPr>
            <a:picLocks noChangeAspect="1"/>
          </p:cNvPicPr>
          <p:nvPr/>
        </p:nvPicPr>
        <p:blipFill>
          <a:blip r:embed="rId3"/>
          <a:stretch>
            <a:fillRect/>
          </a:stretch>
        </p:blipFill>
        <p:spPr>
          <a:xfrm>
            <a:off x="8407160" y="1726066"/>
            <a:ext cx="3429000" cy="3113263"/>
          </a:xfrm>
          <a:prstGeom prst="rect">
            <a:avLst/>
          </a:prstGeom>
        </p:spPr>
      </p:pic>
      <p:sp>
        <p:nvSpPr>
          <p:cNvPr id="2" name="TextBox 1">
            <a:extLst>
              <a:ext uri="{FF2B5EF4-FFF2-40B4-BE49-F238E27FC236}">
                <a16:creationId xmlns:a16="http://schemas.microsoft.com/office/drawing/2014/main" id="{2FC48082-CADA-07BC-B757-B07853508B89}"/>
              </a:ext>
            </a:extLst>
          </p:cNvPr>
          <p:cNvSpPr txBox="1"/>
          <p:nvPr/>
        </p:nvSpPr>
        <p:spPr>
          <a:xfrm>
            <a:off x="304874" y="5133032"/>
            <a:ext cx="11214903" cy="104644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2400" b="1" dirty="0">
                <a:solidFill>
                  <a:srgbClr val="FF0000"/>
                </a:solidFill>
                <a:latin typeface="Times New Roman"/>
                <a:cs typeface="Times New Roman"/>
              </a:rPr>
              <a:t>Insight:</a:t>
            </a:r>
            <a:r>
              <a:rPr lang="en-US" sz="2400" b="1" dirty="0">
                <a:latin typeface="Times New Roman"/>
                <a:cs typeface="Times New Roman"/>
              </a:rPr>
              <a:t> The analysis identifies the most popular music genre in each country based on the highest number of purchases.</a:t>
            </a:r>
            <a:endParaRPr lang="en-US" sz="2400">
              <a:latin typeface="Times New Roman"/>
              <a:cs typeface="Times New Roman"/>
            </a:endParaRPr>
          </a:p>
          <a:p>
            <a:pPr algn="l"/>
            <a:endParaRPr lang="en-US" dirty="0"/>
          </a:p>
        </p:txBody>
      </p:sp>
    </p:spTree>
    <p:extLst>
      <p:ext uri="{BB962C8B-B14F-4D97-AF65-F5344CB8AC3E}">
        <p14:creationId xmlns:p14="http://schemas.microsoft.com/office/powerpoint/2010/main" val="143609130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09">
          <a:extLst>
            <a:ext uri="{FF2B5EF4-FFF2-40B4-BE49-F238E27FC236}">
              <a16:creationId xmlns:a16="http://schemas.microsoft.com/office/drawing/2014/main" id="{9CF5528D-53B8-5A74-6091-66DAEB9C2CEC}"/>
            </a:ext>
          </a:extLst>
        </p:cNvPr>
        <p:cNvGrpSpPr/>
        <p:nvPr/>
      </p:nvGrpSpPr>
      <p:grpSpPr>
        <a:xfrm>
          <a:off x="0" y="0"/>
          <a:ext cx="0" cy="0"/>
          <a:chOff x="0" y="0"/>
          <a:chExt cx="0" cy="0"/>
        </a:xfrm>
      </p:grpSpPr>
      <p:sp>
        <p:nvSpPr>
          <p:cNvPr id="110" name="Google Shape;110;p4">
            <a:extLst>
              <a:ext uri="{FF2B5EF4-FFF2-40B4-BE49-F238E27FC236}">
                <a16:creationId xmlns:a16="http://schemas.microsoft.com/office/drawing/2014/main" id="{DDF02903-C00E-76E8-8235-8B6F2513E50A}"/>
              </a:ext>
            </a:extLst>
          </p:cNvPr>
          <p:cNvSpPr txBox="1">
            <a:spLocks noGrp="1"/>
          </p:cNvSpPr>
          <p:nvPr>
            <p:ph type="title"/>
          </p:nvPr>
        </p:nvSpPr>
        <p:spPr>
          <a:xfrm>
            <a:off x="6788" y="143116"/>
            <a:ext cx="11879438" cy="1577408"/>
          </a:xfrm>
          <a:prstGeom prst="rect">
            <a:avLst/>
          </a:prstGeom>
          <a:noFill/>
          <a:ln>
            <a:noFill/>
          </a:ln>
        </p:spPr>
        <p:txBody>
          <a:bodyPr spcFirstLastPara="1" wrap="square" lIns="91425" tIns="45700" rIns="91425" bIns="45700" anchor="ctr" anchorCtr="0">
            <a:noAutofit/>
          </a:bodyPr>
          <a:lstStyle/>
          <a:p>
            <a:pPr lvl="0" algn="ctr">
              <a:buClr>
                <a:srgbClr val="FF0000"/>
              </a:buClr>
              <a:buSzPts val="4400"/>
            </a:pPr>
            <a:r>
              <a:rPr lang="en-IN" sz="2400" b="1" dirty="0">
                <a:solidFill>
                  <a:srgbClr val="FF0000"/>
                </a:solidFill>
                <a:latin typeface="Times New Roman"/>
                <a:cs typeface="Times New Roman"/>
              </a:rPr>
              <a:t>11.</a:t>
            </a:r>
            <a:r>
              <a:rPr lang="en-US" sz="2400" b="1" dirty="0">
                <a:solidFill>
                  <a:srgbClr val="FF0000"/>
                </a:solidFill>
                <a:latin typeface="Times New Roman"/>
                <a:cs typeface="Times New Roman"/>
              </a:rPr>
              <a:t> Write a query that returns the country along with the top customer and how much they spent. For countries where the top amount spent is shared, provide all customers who spent this amount</a:t>
            </a:r>
            <a:r>
              <a:rPr lang="en-IN" sz="2400" b="1" dirty="0">
                <a:solidFill>
                  <a:srgbClr val="FF0000"/>
                </a:solidFill>
                <a:latin typeface="Times New Roman"/>
                <a:cs typeface="Times New Roman"/>
              </a:rPr>
              <a:t>?</a:t>
            </a:r>
            <a:br>
              <a:rPr lang="en-IN" sz="2400" b="1" dirty="0">
                <a:latin typeface="Times New Roman" panose="02020603050405020304" pitchFamily="18" charset="0"/>
                <a:cs typeface="Times New Roman" panose="02020603050405020304" pitchFamily="18" charset="0"/>
              </a:rPr>
            </a:br>
            <a:r>
              <a:rPr lang="en-IN" sz="2400" b="1" dirty="0">
                <a:solidFill>
                  <a:schemeClr val="tx1"/>
                </a:solidFill>
                <a:latin typeface="Times New Roman"/>
                <a:cs typeface="Times New Roman"/>
              </a:rPr>
              <a:t>(Top customer per country)</a:t>
            </a:r>
            <a:endParaRPr lang="en-US" sz="2400" b="1">
              <a:solidFill>
                <a:schemeClr val="tx1"/>
              </a:solidFill>
              <a:latin typeface="Times New Roman"/>
              <a:cs typeface="Times New Roman"/>
            </a:endParaRPr>
          </a:p>
        </p:txBody>
      </p:sp>
      <p:pic>
        <p:nvPicPr>
          <p:cNvPr id="3" name="Picture 2" descr="A computer code with text&#10;&#10;AI-generated content may be incorrect.">
            <a:extLst>
              <a:ext uri="{FF2B5EF4-FFF2-40B4-BE49-F238E27FC236}">
                <a16:creationId xmlns:a16="http://schemas.microsoft.com/office/drawing/2014/main" id="{87FDF3BC-16A2-F2A1-AE83-BD802AE9367E}"/>
              </a:ext>
            </a:extLst>
          </p:cNvPr>
          <p:cNvPicPr>
            <a:picLocks noChangeAspect="1"/>
          </p:cNvPicPr>
          <p:nvPr/>
        </p:nvPicPr>
        <p:blipFill>
          <a:blip r:embed="rId3"/>
          <a:stretch>
            <a:fillRect/>
          </a:stretch>
        </p:blipFill>
        <p:spPr>
          <a:xfrm>
            <a:off x="295627" y="2228666"/>
            <a:ext cx="6070163" cy="1886827"/>
          </a:xfrm>
          <a:prstGeom prst="rect">
            <a:avLst/>
          </a:prstGeom>
        </p:spPr>
      </p:pic>
      <p:pic>
        <p:nvPicPr>
          <p:cNvPr id="4" name="Picture 3" descr="A screenshot of a computer&#10;&#10;AI-generated content may be incorrect.">
            <a:extLst>
              <a:ext uri="{FF2B5EF4-FFF2-40B4-BE49-F238E27FC236}">
                <a16:creationId xmlns:a16="http://schemas.microsoft.com/office/drawing/2014/main" id="{F820E868-4716-5A5F-7701-5B8A407321D9}"/>
              </a:ext>
            </a:extLst>
          </p:cNvPr>
          <p:cNvPicPr>
            <a:picLocks noChangeAspect="1"/>
          </p:cNvPicPr>
          <p:nvPr/>
        </p:nvPicPr>
        <p:blipFill>
          <a:blip r:embed="rId4"/>
          <a:stretch>
            <a:fillRect/>
          </a:stretch>
        </p:blipFill>
        <p:spPr>
          <a:xfrm>
            <a:off x="7268616" y="2072173"/>
            <a:ext cx="4617874" cy="3187591"/>
          </a:xfrm>
          <a:prstGeom prst="rect">
            <a:avLst/>
          </a:prstGeom>
        </p:spPr>
      </p:pic>
      <p:sp>
        <p:nvSpPr>
          <p:cNvPr id="2" name="TextBox 1">
            <a:extLst>
              <a:ext uri="{FF2B5EF4-FFF2-40B4-BE49-F238E27FC236}">
                <a16:creationId xmlns:a16="http://schemas.microsoft.com/office/drawing/2014/main" id="{46CE5EA5-D1BE-C6BF-ACDA-0E421DC061DF}"/>
              </a:ext>
            </a:extLst>
          </p:cNvPr>
          <p:cNvSpPr txBox="1"/>
          <p:nvPr/>
        </p:nvSpPr>
        <p:spPr>
          <a:xfrm>
            <a:off x="295732" y="4517712"/>
            <a:ext cx="6641125" cy="156966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2400" b="1" dirty="0">
                <a:solidFill>
                  <a:srgbClr val="FF0000"/>
                </a:solidFill>
                <a:latin typeface="Times New Roman"/>
                <a:cs typeface="Times New Roman"/>
              </a:rPr>
              <a:t>Insight:</a:t>
            </a:r>
            <a:r>
              <a:rPr lang="en-US" sz="2400" b="1" dirty="0">
                <a:latin typeface="Times New Roman"/>
                <a:cs typeface="Times New Roman"/>
              </a:rPr>
              <a:t> The analysis identifies the top-spending customer in each country, helping understand customer value across different regions.</a:t>
            </a:r>
            <a:endParaRPr lang="en-US" sz="2400">
              <a:latin typeface="Times New Roman"/>
              <a:cs typeface="Times New Roman"/>
            </a:endParaRPr>
          </a:p>
          <a:p>
            <a:pPr algn="l"/>
            <a:endParaRPr lang="en-US" sz="2400" dirty="0">
              <a:latin typeface="Times New Roman"/>
              <a:cs typeface="Times New Roman"/>
            </a:endParaRPr>
          </a:p>
        </p:txBody>
      </p:sp>
    </p:spTree>
    <p:extLst>
      <p:ext uri="{BB962C8B-B14F-4D97-AF65-F5344CB8AC3E}">
        <p14:creationId xmlns:p14="http://schemas.microsoft.com/office/powerpoint/2010/main" val="216848312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09">
          <a:extLst>
            <a:ext uri="{FF2B5EF4-FFF2-40B4-BE49-F238E27FC236}">
              <a16:creationId xmlns:a16="http://schemas.microsoft.com/office/drawing/2014/main" id="{0F46CA13-235C-319C-2FFD-5D7AF6B8C472}"/>
            </a:ext>
          </a:extLst>
        </p:cNvPr>
        <p:cNvGrpSpPr/>
        <p:nvPr/>
      </p:nvGrpSpPr>
      <p:grpSpPr>
        <a:xfrm>
          <a:off x="0" y="0"/>
          <a:ext cx="0" cy="0"/>
          <a:chOff x="0" y="0"/>
          <a:chExt cx="0" cy="0"/>
        </a:xfrm>
      </p:grpSpPr>
      <p:sp>
        <p:nvSpPr>
          <p:cNvPr id="110" name="Google Shape;110;p4">
            <a:extLst>
              <a:ext uri="{FF2B5EF4-FFF2-40B4-BE49-F238E27FC236}">
                <a16:creationId xmlns:a16="http://schemas.microsoft.com/office/drawing/2014/main" id="{3C46DAFD-09F1-FB11-AA52-FC0E85F9B762}"/>
              </a:ext>
            </a:extLst>
          </p:cNvPr>
          <p:cNvSpPr txBox="1">
            <a:spLocks noGrp="1"/>
          </p:cNvSpPr>
          <p:nvPr>
            <p:ph type="title"/>
          </p:nvPr>
        </p:nvSpPr>
        <p:spPr>
          <a:xfrm>
            <a:off x="4392766" y="167571"/>
            <a:ext cx="3406467" cy="815409"/>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rgbClr val="FF0000"/>
              </a:buClr>
              <a:buSzPts val="4400"/>
              <a:buFont typeface="Calibri"/>
              <a:buNone/>
            </a:pPr>
            <a:r>
              <a:rPr lang="en-IN" b="1" dirty="0">
                <a:solidFill>
                  <a:srgbClr val="C00000"/>
                </a:solidFill>
                <a:latin typeface="Times New Roman" panose="02020603050405020304" pitchFamily="18" charset="0"/>
                <a:cs typeface="Times New Roman" panose="02020603050405020304" pitchFamily="18" charset="0"/>
              </a:rPr>
              <a:t>Key</a:t>
            </a:r>
            <a:r>
              <a:rPr lang="en-IN" b="1" dirty="0">
                <a:solidFill>
                  <a:srgbClr val="FF0000"/>
                </a:solidFill>
                <a:latin typeface="Times New Roman" panose="02020603050405020304" pitchFamily="18" charset="0"/>
                <a:cs typeface="Times New Roman" panose="02020603050405020304" pitchFamily="18" charset="0"/>
              </a:rPr>
              <a:t> </a:t>
            </a:r>
            <a:r>
              <a:rPr lang="en-IN" b="1" dirty="0">
                <a:solidFill>
                  <a:srgbClr val="C00000"/>
                </a:solidFill>
                <a:latin typeface="Times New Roman" panose="02020603050405020304" pitchFamily="18" charset="0"/>
                <a:cs typeface="Times New Roman" panose="02020603050405020304" pitchFamily="18" charset="0"/>
              </a:rPr>
              <a:t>Insights</a:t>
            </a:r>
            <a:endParaRPr b="1" dirty="0">
              <a:solidFill>
                <a:srgbClr val="C00000"/>
              </a:solidFill>
              <a:latin typeface="Times New Roman" panose="02020603050405020304" pitchFamily="18" charset="0"/>
              <a:cs typeface="Times New Roman" panose="02020603050405020304" pitchFamily="18" charset="0"/>
            </a:endParaRPr>
          </a:p>
        </p:txBody>
      </p:sp>
      <p:sp>
        <p:nvSpPr>
          <p:cNvPr id="3" name="Text Placeholder 2">
            <a:extLst>
              <a:ext uri="{FF2B5EF4-FFF2-40B4-BE49-F238E27FC236}">
                <a16:creationId xmlns:a16="http://schemas.microsoft.com/office/drawing/2014/main" id="{DE9BEB76-EA73-016D-C22C-6DAE503DF8AA}"/>
              </a:ext>
            </a:extLst>
          </p:cNvPr>
          <p:cNvSpPr>
            <a:spLocks noGrp="1"/>
          </p:cNvSpPr>
          <p:nvPr>
            <p:ph type="body" idx="1"/>
          </p:nvPr>
        </p:nvSpPr>
        <p:spPr>
          <a:xfrm>
            <a:off x="838200" y="1108710"/>
            <a:ext cx="10786110" cy="3480223"/>
          </a:xfrm>
        </p:spPr>
        <p:txBody>
          <a:bodyPr>
            <a:normAutofit/>
          </a:bodyPr>
          <a:lstStyle/>
          <a:p>
            <a:pPr>
              <a:buClr>
                <a:srgbClr val="C00000"/>
              </a:buClr>
              <a:buFont typeface="Wingdings" panose="02020603050405020304" pitchFamily="18" charset="0"/>
              <a:buChar char="Ø"/>
            </a:pPr>
            <a:r>
              <a:rPr lang="en-US" sz="2600" dirty="0">
                <a:latin typeface="Times New Roman"/>
                <a:cs typeface="Times New Roman"/>
              </a:rPr>
              <a:t>Revenue shows strong concentration in particular cities and countries. </a:t>
            </a:r>
          </a:p>
          <a:p>
            <a:pPr>
              <a:buClr>
                <a:srgbClr val="C00000"/>
              </a:buClr>
              <a:buFont typeface="Wingdings" panose="02020603050405020304" pitchFamily="18" charset="0"/>
              <a:buChar char="Ø"/>
            </a:pPr>
            <a:r>
              <a:rPr lang="en-US" sz="2600" dirty="0">
                <a:latin typeface="Times New Roman"/>
                <a:cs typeface="Times New Roman"/>
              </a:rPr>
              <a:t>A small group of </a:t>
            </a:r>
            <a:r>
              <a:rPr lang="en-US" sz="2600" err="1">
                <a:latin typeface="Times New Roman"/>
                <a:cs typeface="Times New Roman"/>
              </a:rPr>
              <a:t>customers</a:t>
            </a:r>
            <a:r>
              <a:rPr lang="en-US" sz="2600" dirty="0">
                <a:latin typeface="Times New Roman"/>
                <a:cs typeface="Times New Roman"/>
              </a:rPr>
              <a:t> accounts for the majority of sales.</a:t>
            </a:r>
          </a:p>
          <a:p>
            <a:pPr>
              <a:buClr>
                <a:srgbClr val="C00000"/>
              </a:buClr>
              <a:buFont typeface="Wingdings" panose="02020603050405020304" pitchFamily="18" charset="0"/>
              <a:buChar char="Ø"/>
            </a:pPr>
            <a:r>
              <a:rPr lang="en-US" sz="2600" dirty="0">
                <a:latin typeface="Times New Roman"/>
                <a:cs typeface="Times New Roman"/>
              </a:rPr>
              <a:t>Regional preferences reveal certain genres leading in specific markets.</a:t>
            </a:r>
          </a:p>
          <a:p>
            <a:pPr>
              <a:buClr>
                <a:srgbClr val="C00000"/>
              </a:buClr>
              <a:buFont typeface="Wingdings" panose="02020603050405020304" pitchFamily="18" charset="0"/>
              <a:buChar char="Ø"/>
            </a:pPr>
            <a:r>
              <a:rPr lang="en-US" sz="2600" dirty="0">
                <a:latin typeface="Times New Roman"/>
                <a:cs typeface="Times New Roman"/>
              </a:rPr>
              <a:t>Rock music emerges as the top-selling genre overall.</a:t>
            </a:r>
          </a:p>
          <a:p>
            <a:pPr>
              <a:buClr>
                <a:srgbClr val="C00000"/>
              </a:buClr>
              <a:buFont typeface="Wingdings" panose="02020603050405020304" pitchFamily="18" charset="0"/>
              <a:buChar char="Ø"/>
            </a:pPr>
            <a:r>
              <a:rPr lang="en-US" sz="2600" dirty="0">
                <a:latin typeface="Times New Roman"/>
                <a:cs typeface="Times New Roman"/>
              </a:rPr>
              <a:t>The rock category demonstrates a loyal and widespread listener base.</a:t>
            </a:r>
          </a:p>
          <a:p>
            <a:pPr>
              <a:buClr>
                <a:srgbClr val="C00000"/>
              </a:buClr>
              <a:buFont typeface="Wingdings" panose="02020603050405020304" pitchFamily="18" charset="0"/>
              <a:buChar char="Ø"/>
            </a:pPr>
            <a:r>
              <a:rPr lang="en-US" sz="2600" dirty="0">
                <a:latin typeface="Times New Roman"/>
                <a:cs typeface="Times New Roman"/>
              </a:rPr>
              <a:t>Purchasing behavior is heavily shaped by the popularity of leading artists.</a:t>
            </a:r>
          </a:p>
          <a:p>
            <a:pPr>
              <a:buClr>
                <a:srgbClr val="C00000"/>
              </a:buClr>
              <a:buFont typeface="Wingdings" panose="02020603050405020304" pitchFamily="18" charset="0"/>
              <a:buChar char="Ø"/>
            </a:pPr>
            <a:endParaRPr lang="en-US" sz="2600" dirty="0">
              <a:latin typeface="Times New Roman" panose="02020603050405020304" pitchFamily="18" charset="0"/>
              <a:cs typeface="Times New Roman" panose="02020603050405020304" pitchFamily="18" charset="0"/>
            </a:endParaRPr>
          </a:p>
          <a:p>
            <a:pPr>
              <a:buClr>
                <a:srgbClr val="C00000"/>
              </a:buClr>
              <a:buFont typeface="Wingdings" panose="02020603050405020304" pitchFamily="18" charset="0"/>
              <a:buChar char="Ø"/>
            </a:pPr>
            <a:endParaRPr lang="en-US" sz="2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9649969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109">
          <a:extLst>
            <a:ext uri="{FF2B5EF4-FFF2-40B4-BE49-F238E27FC236}">
              <a16:creationId xmlns:a16="http://schemas.microsoft.com/office/drawing/2014/main" id="{05EA7B54-7D81-11A2-2C59-E89F1E744D66}"/>
            </a:ext>
          </a:extLst>
        </p:cNvPr>
        <p:cNvGrpSpPr/>
        <p:nvPr/>
      </p:nvGrpSpPr>
      <p:grpSpPr>
        <a:xfrm>
          <a:off x="0" y="0"/>
          <a:ext cx="0" cy="0"/>
          <a:chOff x="0" y="0"/>
          <a:chExt cx="0" cy="0"/>
        </a:xfrm>
      </p:grpSpPr>
      <p:sp>
        <p:nvSpPr>
          <p:cNvPr id="110" name="Google Shape;110;p4">
            <a:extLst>
              <a:ext uri="{FF2B5EF4-FFF2-40B4-BE49-F238E27FC236}">
                <a16:creationId xmlns:a16="http://schemas.microsoft.com/office/drawing/2014/main" id="{7C23B8CE-472D-34A0-CD88-4EC186B0F758}"/>
              </a:ext>
            </a:extLst>
          </p:cNvPr>
          <p:cNvSpPr txBox="1">
            <a:spLocks noGrp="1"/>
          </p:cNvSpPr>
          <p:nvPr>
            <p:ph type="title"/>
          </p:nvPr>
        </p:nvSpPr>
        <p:spPr>
          <a:xfrm>
            <a:off x="3872571" y="293301"/>
            <a:ext cx="4717367" cy="815409"/>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rgbClr val="FF0000"/>
              </a:buClr>
              <a:buSzPts val="4400"/>
              <a:buFont typeface="Calibri"/>
              <a:buNone/>
            </a:pPr>
            <a:r>
              <a:rPr lang="en-IN" b="1" dirty="0">
                <a:solidFill>
                  <a:srgbClr val="C00000"/>
                </a:solidFill>
                <a:latin typeface="Times New Roman" panose="02020603050405020304" pitchFamily="18" charset="0"/>
                <a:cs typeface="Times New Roman" panose="02020603050405020304" pitchFamily="18" charset="0"/>
              </a:rPr>
              <a:t>Conclusion</a:t>
            </a:r>
            <a:endParaRPr b="1" dirty="0">
              <a:solidFill>
                <a:srgbClr val="C00000"/>
              </a:solidFill>
              <a:latin typeface="Times New Roman" panose="02020603050405020304" pitchFamily="18" charset="0"/>
              <a:cs typeface="Times New Roman" panose="02020603050405020304" pitchFamily="18" charset="0"/>
            </a:endParaRPr>
          </a:p>
        </p:txBody>
      </p:sp>
      <p:sp>
        <p:nvSpPr>
          <p:cNvPr id="3" name="Text Placeholder 2">
            <a:extLst>
              <a:ext uri="{FF2B5EF4-FFF2-40B4-BE49-F238E27FC236}">
                <a16:creationId xmlns:a16="http://schemas.microsoft.com/office/drawing/2014/main" id="{A8939EA6-2C74-31FD-85F5-3DDAB9DA6763}"/>
              </a:ext>
            </a:extLst>
          </p:cNvPr>
          <p:cNvSpPr>
            <a:spLocks noGrp="1"/>
          </p:cNvSpPr>
          <p:nvPr>
            <p:ph type="body" idx="1"/>
          </p:nvPr>
        </p:nvSpPr>
        <p:spPr>
          <a:xfrm>
            <a:off x="838200" y="1117468"/>
            <a:ext cx="10786110" cy="4688913"/>
          </a:xfrm>
        </p:spPr>
        <p:txBody>
          <a:bodyPr>
            <a:normAutofit/>
          </a:bodyPr>
          <a:lstStyle/>
          <a:p>
            <a:pPr marL="114300" indent="0">
              <a:buNone/>
            </a:pPr>
            <a:r>
              <a:rPr lang="en-US" sz="2600" dirty="0">
                <a:latin typeface="Times New Roman"/>
                <a:cs typeface="Times New Roman"/>
              </a:rPr>
              <a:t>This initiative highlights how SQL can be leveraged to convert raw transactional records into meaningful insights that drive business growth.</a:t>
            </a:r>
            <a:endParaRPr lang="en-US" sz="2600">
              <a:latin typeface="Times New Roman"/>
              <a:cs typeface="Times New Roman"/>
            </a:endParaRPr>
          </a:p>
          <a:p>
            <a:pPr marL="114300" indent="0">
              <a:buNone/>
            </a:pPr>
            <a:r>
              <a:rPr lang="en-US" sz="2600" dirty="0">
                <a:latin typeface="Times New Roman"/>
                <a:cs typeface="Times New Roman"/>
              </a:rPr>
              <a:t>Through the analysis:</a:t>
            </a:r>
            <a:endParaRPr lang="en-US" dirty="0"/>
          </a:p>
          <a:p>
            <a:pPr>
              <a:buClr>
                <a:srgbClr val="C00000"/>
              </a:buClr>
              <a:buFont typeface="Wingdings" panose="02020603050405020304" pitchFamily="18" charset="0"/>
              <a:buChar char="Ø"/>
            </a:pPr>
            <a:r>
              <a:rPr lang="en-US" sz="2600" dirty="0">
                <a:latin typeface="Times New Roman"/>
                <a:cs typeface="Times New Roman"/>
              </a:rPr>
              <a:t>Patterns in customer behavior were uncovered. </a:t>
            </a:r>
          </a:p>
          <a:p>
            <a:pPr>
              <a:buClr>
                <a:srgbClr val="C00000"/>
              </a:buClr>
              <a:buFont typeface="Wingdings" panose="02020603050405020304" pitchFamily="18" charset="0"/>
              <a:buChar char="Ø"/>
            </a:pPr>
            <a:r>
              <a:rPr lang="en-US" sz="2600" dirty="0">
                <a:latin typeface="Times New Roman"/>
                <a:cs typeface="Times New Roman"/>
              </a:rPr>
              <a:t>Revenue performance was tracked and evaluated.</a:t>
            </a:r>
          </a:p>
          <a:p>
            <a:pPr>
              <a:buClr>
                <a:srgbClr val="C00000"/>
              </a:buClr>
              <a:buFont typeface="Wingdings" panose="02020603050405020304" pitchFamily="18" charset="0"/>
              <a:buChar char="Ø"/>
            </a:pPr>
            <a:r>
              <a:rPr lang="en-US" sz="2600" dirty="0">
                <a:latin typeface="Times New Roman"/>
                <a:cs typeface="Times New Roman"/>
              </a:rPr>
              <a:t>Market preferences were identified and interpreted.</a:t>
            </a:r>
          </a:p>
          <a:p>
            <a:pPr>
              <a:buClr>
                <a:srgbClr val="C00000"/>
              </a:buClr>
              <a:buFont typeface="Wingdings" panose="02020603050405020304" pitchFamily="18" charset="0"/>
              <a:buChar char="Ø"/>
            </a:pPr>
            <a:r>
              <a:rPr lang="en-US" sz="2600" dirty="0">
                <a:latin typeface="Times New Roman"/>
                <a:cs typeface="Times New Roman"/>
              </a:rPr>
              <a:t>Findings provided a foundation for informed strategic decision-making.</a:t>
            </a:r>
          </a:p>
          <a:p>
            <a:pPr>
              <a:buClr>
                <a:srgbClr val="C00000"/>
              </a:buClr>
              <a:buFont typeface="Wingdings" panose="02020603050405020304" pitchFamily="18" charset="0"/>
              <a:buChar char="Ø"/>
            </a:pPr>
            <a:endParaRPr lang="en-US" sz="2600" dirty="0">
              <a:latin typeface="Times New Roman"/>
              <a:cs typeface="Times New Roman"/>
            </a:endParaRPr>
          </a:p>
        </p:txBody>
      </p:sp>
    </p:spTree>
    <p:extLst>
      <p:ext uri="{BB962C8B-B14F-4D97-AF65-F5344CB8AC3E}">
        <p14:creationId xmlns:p14="http://schemas.microsoft.com/office/powerpoint/2010/main" val="45670768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115"/>
        <p:cNvGrpSpPr/>
        <p:nvPr/>
      </p:nvGrpSpPr>
      <p:grpSpPr>
        <a:xfrm>
          <a:off x="0" y="0"/>
          <a:ext cx="0" cy="0"/>
          <a:chOff x="0" y="0"/>
          <a:chExt cx="0" cy="0"/>
        </a:xfrm>
      </p:grpSpPr>
      <p:pic>
        <p:nvPicPr>
          <p:cNvPr id="6" name="Picture 5">
            <a:extLst>
              <a:ext uri="{FF2B5EF4-FFF2-40B4-BE49-F238E27FC236}">
                <a16:creationId xmlns:a16="http://schemas.microsoft.com/office/drawing/2014/main" id="{F022BA6C-EB9E-3200-B08E-7AEE0C06D8C3}"/>
              </a:ext>
            </a:extLst>
          </p:cNvPr>
          <p:cNvPicPr>
            <a:picLocks noChangeAspect="1"/>
          </p:cNvPicPr>
          <p:nvPr/>
        </p:nvPicPr>
        <p:blipFill>
          <a:blip r:embed="rId3"/>
          <a:stretch>
            <a:fillRect/>
          </a:stretch>
        </p:blipFill>
        <p:spPr>
          <a:xfrm>
            <a:off x="841812" y="1377863"/>
            <a:ext cx="10508375" cy="3463212"/>
          </a:xfrm>
          <a:prstGeom prst="rect">
            <a:avLst/>
          </a:prstGeom>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316</TotalTime>
  <Words>1153</Words>
  <Application>Microsoft Office PowerPoint</Application>
  <PresentationFormat>Widescreen</PresentationFormat>
  <Paragraphs>86</Paragraphs>
  <Slides>24</Slides>
  <Notes>17</Notes>
  <HiddenSlides>0</HiddenSlides>
  <MMClips>0</MMClips>
  <ScaleCrop>false</ScaleCrop>
  <HeadingPairs>
    <vt:vector size="4" baseType="variant">
      <vt:variant>
        <vt:lpstr>Theme</vt:lpstr>
      </vt:variant>
      <vt:variant>
        <vt:i4>1</vt:i4>
      </vt:variant>
      <vt:variant>
        <vt:lpstr>Slide Titles</vt:lpstr>
      </vt:variant>
      <vt:variant>
        <vt:i4>24</vt:i4>
      </vt:variant>
    </vt:vector>
  </HeadingPairs>
  <TitlesOfParts>
    <vt:vector size="25" baseType="lpstr">
      <vt:lpstr>Office Theme</vt:lpstr>
      <vt:lpstr>PowerPoint Presentation</vt:lpstr>
      <vt:lpstr>PowerPoint Presentation</vt:lpstr>
      <vt:lpstr>Problem Statement</vt:lpstr>
      <vt:lpstr>   Objectives</vt:lpstr>
      <vt:lpstr>PowerPoint Presentation</vt:lpstr>
      <vt:lpstr>1. Genre Table</vt:lpstr>
      <vt:lpstr>6. Album Table</vt:lpstr>
      <vt:lpstr>11. Playlisttrack Table</vt:lpstr>
      <vt:lpstr>ER Diagram</vt:lpstr>
      <vt:lpstr>Analysis</vt:lpstr>
      <vt:lpstr>1. Who is the senior most employee based on job title? (Senior Most Employee  Madhan Mohan [S.G.M])</vt:lpstr>
      <vt:lpstr>PowerPoint Presentation</vt:lpstr>
      <vt:lpstr>3. What are the top 3 values of total invoices? (Top 3 invoice totals)</vt:lpstr>
      <vt:lpstr>PowerPoint Presentation</vt:lpstr>
      <vt:lpstr>5. Who is the best customer? Write a query that returns the person who has spent the most money? (Best Customer = Highest Spending  FrantiAiek WichterovAi)</vt:lpstr>
      <vt:lpstr>PowerPoint Presentation</vt:lpstr>
      <vt:lpstr>7. Write a query that returns the Artist name and total track count of the top 10 rock bands ? (Top 10 Rock genre artists)</vt:lpstr>
      <vt:lpstr>PowerPoint Presentation</vt:lpstr>
      <vt:lpstr>9. Find how much amount is spent by each customer on artists? Write a query to return customer name, artist name and total spent? (Customer spending on artist)</vt:lpstr>
      <vt:lpstr>PowerPoint Presentation</vt:lpstr>
      <vt:lpstr>11. Write a query that returns the country along with the top customer and how much they spent. For countries where the top amount spent is shared, provide all customers who spent this amount? (Top customer per country)</vt:lpstr>
      <vt:lpstr>Key Insights</vt:lpstr>
      <vt:lpstr>Conclusion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Raghu Ram Aduri</dc:creator>
  <cp:lastModifiedBy>KORA KASI OBUL REDDY</cp:lastModifiedBy>
  <cp:revision>696</cp:revision>
  <dcterms:created xsi:type="dcterms:W3CDTF">2021-02-16T05:19:01Z</dcterms:created>
  <dcterms:modified xsi:type="dcterms:W3CDTF">2026-03-17T16:46:11Z</dcterms:modified>
</cp:coreProperties>
</file>